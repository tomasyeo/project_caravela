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8"/>
    <p:restoredTop sz="94678"/>
  </p:normalViewPr>
  <p:slideViewPr>
    <p:cSldViewPr snapToGrid="0" snapToObjects="1">
      <p:cViewPr varScale="1">
        <p:scale>
          <a:sx n="135" d="100"/>
          <a:sy n="135" d="100"/>
        </p:scale>
        <p:origin x="192" y="4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565C0"/>
                </a:solidFill>
                <a:latin typeface="Calibri"/>
              </a:defRPr>
            </a:pPr>
            <a:r>
              <a:t>Project Caravela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424242"/>
                </a:solidFill>
                <a:latin typeface="Calibri"/>
              </a:defRPr>
            </a:pPr>
            <a:r>
              <a:t>Technical Approach &amp;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57575"/>
                </a:solidFill>
                <a:latin typeface="Calibri"/>
              </a:defRPr>
            </a:pPr>
            <a:r>
              <a:t>Brazilian E-Commerce Analytics Pipeline  |  Olist Dataset  |  ~100k orders, 2016–2018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1FA2"/>
                </a:solidFill>
                <a:latin typeface="Calibri"/>
              </a:defRPr>
            </a:pPr>
            <a:r>
              <a:t>5-Agent AI Architecture  +  Human Orchestrator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212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  <a:latin typeface="Calibri"/>
              </a:defRPr>
            </a:pPr>
            <a:r>
              <a:t>DSAI Module 2 Assignment  •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5C0"/>
                </a:solidFill>
                <a:latin typeface="Calibri"/>
              </a:defRPr>
            </a:pPr>
            <a:r>
              <a:rPr dirty="0"/>
              <a:t>Pipeline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  <a:latin typeface="Calibri"/>
              </a:defRPr>
            </a:pPr>
            <a:r>
              <a:t>End-to-end flow across 6 layers — modular, each independently replaceable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554480"/>
            <a:ext cx="1417320" cy="118872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CSV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9 files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~1.1M rows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1554480"/>
            <a:ext cx="1417320" cy="11887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Meltano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tap-csv →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target-bigquery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554480"/>
            <a:ext cx="1417320" cy="118872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BigQuery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olist_raw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9 tables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1554480"/>
            <a:ext cx="1417320" cy="11887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dbt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staging (9 views)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marts (7 tables)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554480"/>
            <a:ext cx="1417320" cy="118872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BigQuery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olist_analytics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Star Schema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1554480"/>
            <a:ext cx="1417320" cy="118872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Jupyter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4 notebooks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11 metrics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49840" y="1554480"/>
            <a:ext cx="1417320" cy="1188720"/>
          </a:xfrm>
          <a:prstGeom prst="round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Parquet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6 files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data/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91640" y="1965960"/>
            <a:ext cx="502920" cy="54864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37560" y="1965960"/>
            <a:ext cx="502920" cy="54864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983480" y="1965960"/>
            <a:ext cx="502920" cy="54864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29400" y="1965960"/>
            <a:ext cx="502920" cy="54864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75320" y="1965960"/>
            <a:ext cx="502920" cy="54864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921240" y="1965960"/>
            <a:ext cx="502920" cy="54864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149840" y="3017520"/>
            <a:ext cx="1417320" cy="914400"/>
          </a:xfrm>
          <a:prstGeom prst="round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Streamlit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5-page dashboard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789920" y="2743200"/>
            <a:ext cx="54864" cy="27432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4320" y="4297680"/>
            <a:ext cx="5943600" cy="36576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4320" y="43891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5100"/>
                </a:solidFill>
                <a:latin typeface="Calibri"/>
              </a:defRPr>
            </a:pPr>
            <a:r>
              <a:t>▸ AUTOMATED — Dagster-orchestrated (daily 09:00 SGT + manual trigger)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4297680"/>
            <a:ext cx="5303520" cy="36576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0" y="43891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B1FA2"/>
                </a:solidFill>
                <a:latin typeface="Calibri"/>
              </a:defRPr>
            </a:pPr>
            <a:r>
              <a:t>▸ MANUAL — Notebooks, Parquet export, Streamlit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493776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All credentials from single .env file: GOOGLE_APPLICATION_CREDENTIALS, GCP_PROJECT_ID, BIGQUERY_RAW_DATASET, BIGQUERY_ANALYTICS_DATASET</a:t>
            </a:r>
          </a:p>
          <a:p>
            <a:pPr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Parquet files decouple dashboard from BigQuery — Streamlit requires no GCP credentials</a:t>
            </a:r>
          </a:p>
          <a:p>
            <a:pPr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dbt build interleaves models + tests — failing staging test blocks dependent marts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9C1684-5BF1-435F-0704-C755412E5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0643"/>
            <a:ext cx="12192000" cy="41068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CEF4FC-AFB2-DB81-245C-E0C404EB3BCF}"/>
              </a:ext>
            </a:extLst>
          </p:cNvPr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5C0"/>
                </a:solidFill>
                <a:latin typeface="Calibri"/>
              </a:defRPr>
            </a:pPr>
            <a:r>
              <a:rPr dirty="0"/>
              <a:t>Pipeline 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063748-2F77-05C3-20D5-71DCD009DED3}"/>
              </a:ext>
            </a:extLst>
          </p:cNvPr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  <a:latin typeface="Calibri"/>
              </a:defRPr>
            </a:pPr>
            <a:r>
              <a:t>End-to-end flow across 6 layers — modular, each independently replaceable</a:t>
            </a:r>
          </a:p>
        </p:txBody>
      </p:sp>
    </p:spTree>
    <p:extLst>
      <p:ext uri="{BB962C8B-B14F-4D97-AF65-F5344CB8AC3E}">
        <p14:creationId xmlns:p14="http://schemas.microsoft.com/office/powerpoint/2010/main" val="4143810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5C0"/>
                </a:solidFill>
                <a:latin typeface="Calibri"/>
              </a:defRPr>
            </a:pPr>
            <a:r>
              <a:t>Tool Selection Rationale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  <a:latin typeface="Calibri"/>
              </a:defRPr>
            </a:pPr>
            <a:r>
              <a:t>Each tool chosen for a specific architectural property — decoupling is the design principle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845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Layer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Selected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Rationale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Alternatives Rejected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Ingestion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Meltano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(tap-csv)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Declarative YAML; Singer protocol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separates extract from load;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WRITE_TRUNCATE for full refresh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Custom Python scripts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bq load CLI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Transformation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dbt 1.11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on BigQuery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SQL-first ELT with ref() lineage;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staging views + mart tables;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all type casting centralised in staging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pandas transforms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BQ stored procedures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Data Quality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dbt-expectations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+ singular SQL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Integrated in DAG — failing test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blocks downstream marts;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76 tests, 0 failures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Great Expectations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Soda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Orchestration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Dagster 1.12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+ dagster-dbt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Asset-centric model; 1 asset per dbt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model auto-generated;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daily 09:00 SGT schedule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Airflow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Prefect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cron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Jupyter +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google-cloud-bigquery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Self-contained notebooks;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Parquet export decouples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dashboard from BigQuery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Python scripts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dbt metrics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845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Dashboard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Streamlit 1.55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Python-native; reads Parquet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(no GCP credentials);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4 global filters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Looker, Metabase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Dash (Plotly)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65100"/>
                </a:solidFill>
                <a:latin typeface="Calibri"/>
              </a:defRPr>
            </a:pPr>
            <a:r>
              <a:t>Star Schema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5100"/>
                </a:solidFill>
                <a:latin typeface="Calibri"/>
              </a:defRPr>
            </a:pPr>
            <a:r>
              <a:t>Fact Tables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424242"/>
                </a:solidFill>
                <a:latin typeface="Calibri"/>
              </a:defRPr>
            </a:pPr>
            <a:r>
              <a:t>fct_sales — order-item grain (~112k rows)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Composite PK: order_id + order_item_id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4 FKs → dim_customers, dim_products, dim_sellers, dim_date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total_sale_amount = price + freight_value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3-source CTE: items → orders → customers</a:t>
            </a:r>
          </a:p>
          <a:p>
            <a:pPr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200" b="1">
                <a:solidFill>
                  <a:srgbClr val="424242"/>
                </a:solidFill>
                <a:latin typeface="Calibri"/>
              </a:defRPr>
            </a:pPr>
            <a:r>
              <a:t>fct_reviews — review grain (~97k rows, post-dedup)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PK: review_id (789 source duplicates removed)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FK: order_id → stg_orders (NOT fct_sales)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⚠ 756 itemless orders have reviews but no sales rows</a:t>
            </a:r>
          </a:p>
          <a:p>
            <a:pPr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200" b="1">
                <a:solidFill>
                  <a:srgbClr val="424242"/>
                </a:solidFill>
                <a:latin typeface="Calibri"/>
              </a:defRPr>
            </a:pPr>
            <a:r>
              <a:t>fct_payments — payment-method grain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Compound PK: order_id + payment_sequential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Nullable date_key via LEFT JOIN to stg_orders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565C0"/>
                </a:solidFill>
                <a:latin typeface="Calibri"/>
              </a:defRPr>
            </a:pPr>
            <a:r>
              <a:t>Dimension Tables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424242"/>
                </a:solidFill>
                <a:latin typeface="Calibri"/>
              </a:defRPr>
            </a:pPr>
            <a:r>
              <a:t>dim_customers — PK: customer_unique_id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Deduped via ROW_NUMBER; geolocation lat/lng (nullable)</a:t>
            </a:r>
          </a:p>
          <a:p>
            <a:pPr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200" b="1">
                <a:solidFill>
                  <a:srgbClr val="424242"/>
                </a:solidFill>
                <a:latin typeface="Calibri"/>
              </a:defRPr>
            </a:pPr>
            <a:r>
              <a:t>dim_products — PK: product_id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COALESCE(english → portuguese → 'uncategorized')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7 nullable numeric columns via SAFE_CAST</a:t>
            </a:r>
          </a:p>
          <a:p>
            <a:pPr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200" b="1">
                <a:solidFill>
                  <a:srgbClr val="424242"/>
                </a:solidFill>
                <a:latin typeface="Calibri"/>
              </a:defRPr>
            </a:pPr>
            <a:r>
              <a:t>dim_sellers — PK: seller_id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Geolocation enrichment by zip code prefix</a:t>
            </a:r>
          </a:p>
          <a:p>
            <a:pPr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200" b="1">
                <a:solidFill>
                  <a:srgbClr val="424242"/>
                </a:solidFill>
                <a:latin typeface="Calibri"/>
              </a:defRPr>
            </a:pPr>
            <a:r>
              <a:t>dim_date — PK: date_key (DATE type)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Generated: dbt_utils.date_spine (2016-01-01 to 2018-12-31)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No raw data source — see ADR-001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486400"/>
            <a:ext cx="11247120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56235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24242"/>
                </a:solidFill>
                <a:latin typeface="Calibri"/>
              </a:defRPr>
            </a:pPr>
            <a:r>
              <a:t>Why star schema?  Single fact-to-dim joins for analytics • Dims evolve independently • Clear grain per fact table prevents 'universal fact table' anti-pattern • Staging layer (views) fixes all data defects once — every downstream consumer inherits clean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E7D32"/>
                </a:solidFill>
                <a:latin typeface="Calibri"/>
              </a:defRPr>
            </a:pPr>
            <a:r>
              <a:t>Data Quality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  <a:latin typeface="Calibri"/>
              </a:defRPr>
            </a:pPr>
            <a:r>
              <a:t>76 tests, 2 mechanisms, 0 failures — enforced at staging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Calibri"/>
              </a:defRPr>
            </a:pPr>
            <a:r>
              <a:t>Generic Tests (schema.yml)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not_null, unique — PK/FK enforcement</a:t>
            </a:r>
          </a:p>
          <a:p>
            <a:pPr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accepted_values — order_status, payment_type</a:t>
            </a:r>
          </a:p>
          <a:p>
            <a:pPr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expect_column_values_to_be_between — numeric ranges</a:t>
            </a:r>
          </a:p>
          <a:p>
            <a:pPr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expect_table_row_count_to_be_between — fan-out guards</a:t>
            </a:r>
          </a:p>
          <a:p>
            <a:pPr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unique_combination_of_columns — compound PKs</a:t>
            </a:r>
          </a:p>
          <a:p>
            <a:pPr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Temporal pair tests — timestamp ordering</a:t>
            </a:r>
          </a:p>
          <a:p>
            <a:pPr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relationships — FK referential integrity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Calibri"/>
              </a:defRPr>
            </a:pPr>
            <a:r>
              <a:t>Singular Tests (SQL files)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828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424242"/>
                </a:solidFill>
                <a:latin typeface="Calibri"/>
              </a:defRPr>
            </a:pPr>
            <a:r>
              <a:t>assert_boleto_single_installment.sql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Boleto payments must have exactly 1 instalment</a:t>
            </a:r>
          </a:p>
          <a:p>
            <a:pPr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200" b="1">
                <a:solidFill>
                  <a:srgbClr val="424242"/>
                </a:solidFill>
                <a:latin typeface="Calibri"/>
              </a:defRPr>
            </a:pPr>
            <a:r>
              <a:t>assert_payment_reconciliation.sql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SUM(payment_value) ≈ SUM(total_sale_amount) per order</a:t>
            </a:r>
          </a:p>
          <a:p>
            <a:pPr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200" b="1">
                <a:solidFill>
                  <a:srgbClr val="424242"/>
                </a:solidFill>
                <a:latin typeface="Calibri"/>
              </a:defRPr>
            </a:pPr>
            <a:r>
              <a:t>assert_date_key_range.sql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All fact table date_keys within 2016-01-01 to 2018-12-31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Calibri"/>
              </a:defRPr>
            </a:pPr>
            <a:r>
              <a:t>Staging Layer Data Defect Corrections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484632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Fix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stg_reviews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ROW_NUMBER dedup on review_id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789 duplicates removed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stg_geolocation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Brazil bounding-box filter + AVG(lat,lng) per zip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~1M → ~19k rows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stg_payments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Filter payment_type='not_defined'; clamp installments 0→1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3 + 2 rows fixed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stg_products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Rename 'lenght'→'length'; COALESCE category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610 products labelled 'uncategorized'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65100"/>
                </a:solidFill>
                <a:latin typeface="Calibri"/>
              </a:defRPr>
            </a:pPr>
            <a:r>
              <a:t>Key Findings: Market &amp; Revenue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2560320" cy="100584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E65100"/>
                </a:solidFill>
              </a:defRPr>
            </a:pPr>
            <a:r>
              <a:t>R$15.8M</a:t>
            </a:r>
          </a:p>
          <a:p>
            <a:pPr algn="ctr">
              <a:defRPr sz="1300">
                <a:solidFill>
                  <a:srgbClr val="757575"/>
                </a:solidFill>
              </a:defRPr>
            </a:pPr>
            <a:r>
              <a:t>Total GMV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097280"/>
            <a:ext cx="2560320" cy="100584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1565C0"/>
                </a:solidFill>
              </a:defRPr>
            </a:pPr>
            <a:r>
              <a:t>98,353</a:t>
            </a:r>
          </a:p>
          <a:p>
            <a:pPr algn="ctr">
              <a:defRPr sz="1300">
                <a:solidFill>
                  <a:srgbClr val="757575"/>
                </a:solidFill>
              </a:defRPr>
            </a:pPr>
            <a:r>
              <a:t>Orders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097280"/>
            <a:ext cx="2560320" cy="100584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2E7D32"/>
                </a:solidFill>
              </a:defRPr>
            </a:pPr>
            <a:r>
              <a:t>R$160.51</a:t>
            </a:r>
          </a:p>
          <a:p>
            <a:pPr algn="ctr">
              <a:defRPr sz="1300">
                <a:solidFill>
                  <a:srgbClr val="757575"/>
                </a:solidFill>
              </a:defRPr>
            </a:pPr>
            <a:r>
              <a:t>Avg Order Value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097280"/>
            <a:ext cx="2560320" cy="100584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00838F"/>
                </a:solidFill>
              </a:defRPr>
            </a:pPr>
            <a:r>
              <a:t>97.8%</a:t>
            </a:r>
          </a:p>
          <a:p>
            <a:pPr algn="ctr">
              <a:defRPr sz="1300">
                <a:solidFill>
                  <a:srgbClr val="757575"/>
                </a:solidFill>
              </a:defRPr>
            </a:pPr>
            <a:r>
              <a:t>Delivered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424242"/>
                </a:solidFill>
                <a:latin typeface="Calibri"/>
              </a:defRPr>
            </a:pPr>
            <a:r>
              <a:t>Growth &amp; Trajectory</a:t>
            </a:r>
          </a:p>
          <a:p>
            <a:pPr>
              <a:spcAft>
                <a:spcPts val="4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103% growth H1→H2 2017; decelerated to 38% H1 2018</a:t>
            </a:r>
          </a:p>
          <a:p>
            <a:pPr>
              <a:spcAft>
                <a:spcPts val="4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Peak: Nov 2017 — 7,451 orders (Black Friday effect)</a:t>
            </a:r>
          </a:p>
          <a:p>
            <a:pPr>
              <a:spcAft>
                <a:spcPts val="4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AOV dipped 6% during Nov 2017 (volume-driven discounting)</a:t>
            </a:r>
          </a:p>
          <a:p>
            <a:pPr>
              <a:spcAft>
                <a:spcPts val="4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300" b="1">
                <a:solidFill>
                  <a:srgbClr val="424242"/>
                </a:solidFill>
                <a:latin typeface="Calibri"/>
              </a:defRPr>
            </a:pPr>
            <a:r>
              <a:t>Revenue Concentration</a:t>
            </a:r>
          </a:p>
          <a:p>
            <a:pPr>
              <a:spcAft>
                <a:spcPts val="4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Top 15 categories = 76.4% of GMV</a:t>
            </a:r>
          </a:p>
          <a:p>
            <a:pPr>
              <a:spcAft>
                <a:spcPts val="4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Category Gini 0.71, HHI 484 — diversified, no dominance</a:t>
            </a:r>
          </a:p>
          <a:p>
            <a:pPr>
              <a:spcAft>
                <a:spcPts val="4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Health &amp; Beauty 9.1%, Watches &amp; Gifts 8.2%, Bed/Bath/Table 7.9%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37744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424242"/>
                </a:solidFill>
                <a:latin typeface="Calibri"/>
              </a:defRPr>
            </a:pPr>
            <a:r>
              <a:t>Payment Mix</a:t>
            </a:r>
          </a:p>
          <a:p>
            <a:pPr>
              <a:spcAft>
                <a:spcPts val="4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Credit card 77.0% — R$152 AOV</a:t>
            </a:r>
          </a:p>
          <a:p>
            <a:pPr>
              <a:spcAft>
                <a:spcPts val="4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Boleto 19.9% — R$127 AOV (20% lower than credit card)</a:t>
            </a:r>
          </a:p>
          <a:p>
            <a:pPr>
              <a:spcAft>
                <a:spcPts val="4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Credit card users: median 3 instalments, 7.3% choose 10+</a:t>
            </a:r>
          </a:p>
          <a:p>
            <a:pPr>
              <a:spcAft>
                <a:spcPts val="4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300" b="1">
                <a:solidFill>
                  <a:srgbClr val="424242"/>
                </a:solidFill>
                <a:latin typeface="Calibri"/>
              </a:defRPr>
            </a:pPr>
            <a:r>
              <a:t>Freight Impact</a:t>
            </a:r>
          </a:p>
          <a:p>
            <a:pPr>
              <a:spcAft>
                <a:spcPts val="4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Freight = 14.2% of GMV (R$2.24M total)</a:t>
            </a:r>
          </a:p>
          <a:p>
            <a:pPr>
              <a:spcAft>
                <a:spcPts val="4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Christmas Supplies: 36.7% freight ratio</a:t>
            </a:r>
          </a:p>
          <a:p>
            <a:pPr>
              <a:spcAft>
                <a:spcPts val="4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Instalment promotion is a low-cost lever to boost AOV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5C0"/>
                </a:solidFill>
                <a:latin typeface="Calibri"/>
              </a:defRPr>
            </a:pPr>
            <a:r>
              <a:t>Key Findings: Customers &amp; Delivery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2560320" cy="100584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C62828"/>
                </a:solidFill>
              </a:defRPr>
            </a:pPr>
            <a:r>
              <a:t>3.1%</a:t>
            </a:r>
          </a:p>
          <a:p>
            <a:pPr algn="ctr">
              <a:defRPr sz="1300">
                <a:solidFill>
                  <a:srgbClr val="757575"/>
                </a:solidFill>
              </a:defRPr>
            </a:pPr>
            <a:r>
              <a:t>Repeat Rate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097280"/>
            <a:ext cx="2560320" cy="100584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1565C0"/>
                </a:solidFill>
              </a:defRPr>
            </a:pPr>
            <a:r>
              <a:t>63.6</a:t>
            </a:r>
          </a:p>
          <a:p>
            <a:pPr algn="ctr">
              <a:defRPr sz="1300">
                <a:solidFill>
                  <a:srgbClr val="757575"/>
                </a:solidFill>
              </a:defRPr>
            </a:pPr>
            <a:r>
              <a:t>NPS Proxy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097280"/>
            <a:ext cx="2560320" cy="100584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2E7D32"/>
                </a:solidFill>
              </a:defRPr>
            </a:pPr>
            <a:r>
              <a:t>91.9%</a:t>
            </a:r>
          </a:p>
          <a:p>
            <a:pPr algn="ctr">
              <a:defRPr sz="1300">
                <a:solidFill>
                  <a:srgbClr val="757575"/>
                </a:solidFill>
              </a:defRPr>
            </a:pPr>
            <a:r>
              <a:t>On-Time Delivery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097280"/>
            <a:ext cx="2560320" cy="100584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E65100"/>
                </a:solidFill>
              </a:defRPr>
            </a:pPr>
            <a:r>
              <a:t>58.2%</a:t>
            </a:r>
          </a:p>
          <a:p>
            <a:pPr algn="ctr">
              <a:defRPr sz="1300">
                <a:solidFill>
                  <a:srgbClr val="757575"/>
                </a:solidFill>
              </a:defRPr>
            </a:pPr>
            <a:r>
              <a:t>Hibernating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424242"/>
                </a:solidFill>
                <a:latin typeface="Calibri"/>
              </a:defRPr>
            </a:pPr>
            <a:r>
              <a:t>RFM Segmentation (ref date: 2018-08-31)</a:t>
            </a:r>
          </a:p>
          <a:p>
            <a:pPr>
              <a:spcAft>
                <a:spcPts val="4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96.9% of customers made exactly 1 purchase</a:t>
            </a:r>
          </a:p>
          <a:p>
            <a:pPr>
              <a:spcAft>
                <a:spcPts val="4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3-tier frequency: F1=1, F2=2, F3=3+ orders</a:t>
            </a:r>
          </a:p>
          <a:p>
            <a:pPr>
              <a:spcAft>
                <a:spcPts val="4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Segments: Hibernating 58.2%, Promising 38.7%,</a:t>
            </a:r>
          </a:p>
          <a:p>
            <a:pPr>
              <a:spcAft>
                <a:spcPts val="4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  Loyal 1.8%, At Risk 1.0%, Champions 0.1%</a:t>
            </a:r>
          </a:p>
          <a:p>
            <a:pPr>
              <a:spcAft>
                <a:spcPts val="4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300" b="1">
                <a:solidFill>
                  <a:srgbClr val="424242"/>
                </a:solidFill>
                <a:latin typeface="Calibri"/>
              </a:defRPr>
            </a:pPr>
            <a:r>
              <a:t>Actionable Insight</a:t>
            </a:r>
          </a:p>
          <a:p>
            <a:pPr>
              <a:spcAft>
                <a:spcPts val="4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'Promising' (38.7%) = recent single-purchase customers</a:t>
            </a:r>
          </a:p>
          <a:p>
            <a:pPr>
              <a:spcAft>
                <a:spcPts val="4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Highest-ROI retention target — already acquired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37744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424242"/>
                </a:solidFill>
                <a:latin typeface="Calibri"/>
              </a:defRPr>
            </a:pPr>
            <a:r>
              <a:t>Delay-to-Satisfaction Cliff</a:t>
            </a:r>
          </a:p>
          <a:p>
            <a:pPr>
              <a:spcAft>
                <a:spcPts val="4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Early delivery:    avg score 4.30</a:t>
            </a:r>
          </a:p>
          <a:p>
            <a:pPr>
              <a:spcAft>
                <a:spcPts val="4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On-time:              avg score 3.89  (−0.41)</a:t>
            </a:r>
          </a:p>
          <a:p>
            <a:pPr>
              <a:spcAft>
                <a:spcPts val="4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1–3 days late:      avg score 3.29  (−0.60)</a:t>
            </a:r>
          </a:p>
          <a:p>
            <a:pPr>
              <a:spcAft>
                <a:spcPts val="400"/>
              </a:spcAft>
              <a:defRPr sz="1300" b="1">
                <a:solidFill>
                  <a:srgbClr val="424242"/>
                </a:solidFill>
                <a:latin typeface="Calibri"/>
              </a:defRPr>
            </a:pPr>
            <a:r>
              <a:t>4–7 days late:      avg score 2.11  (−1.19 cliff)</a:t>
            </a:r>
          </a:p>
          <a:p>
            <a:pPr>
              <a:spcAft>
                <a:spcPts val="4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7+ days late:        avg score 1.69  (−0.42)</a:t>
            </a:r>
          </a:p>
          <a:p>
            <a:pPr>
              <a:spcAft>
                <a:spcPts val="4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300" b="1">
                <a:solidFill>
                  <a:srgbClr val="424242"/>
                </a:solidFill>
                <a:latin typeface="Calibri"/>
              </a:defRPr>
            </a:pPr>
            <a:r>
              <a:t>Delivery Promise</a:t>
            </a:r>
          </a:p>
          <a:p>
            <a:pPr>
              <a:spcAft>
                <a:spcPts val="4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All regions over-promise by 11–17 days</a:t>
            </a:r>
          </a:p>
          <a:p>
            <a:pPr>
              <a:spcAft>
                <a:spcPts val="4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Positive surprise drives NPS but may suppress conversion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E7D32"/>
                </a:solidFill>
                <a:latin typeface="Calibri"/>
              </a:defRPr>
            </a:pPr>
            <a:r>
              <a:t>Key Findings: Geographic &amp; Sellers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Calibri"/>
              </a:defRPr>
            </a:pPr>
            <a:r>
              <a:t>Regional Performance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6858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Region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GMV Share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On-Time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Avg Delivery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Promise Buffer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Southeast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64.6%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92.5%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12.9 days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11.6 days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South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14.5%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92.9%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14.0 days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12.8 days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Northeast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11.9%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85.7%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20.6 days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11.1 days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Central-West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6.5%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92.0%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15.5 days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12.4 days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North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2.6%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90.2%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23.6 days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17.5 days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389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Calibri"/>
              </a:defRPr>
            </a:pPr>
            <a:r>
              <a:t>Seller Landscape (3,068 active)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Top 18.3% of sellers = 80% of GMV</a:t>
            </a:r>
          </a:p>
          <a:p>
            <a:pPr>
              <a:spcAft>
                <a:spcPts val="4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Seller Gini 0.78 (long-tail) but HHI 35 (no monopoly)</a:t>
            </a:r>
          </a:p>
          <a:p>
            <a:pPr>
              <a:spcAft>
                <a:spcPts val="4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Platform avg seller score: 3.98/5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097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Calibri"/>
              </a:defRPr>
            </a:pPr>
            <a:r>
              <a:t>Seller Quality Tiers (≥10 orders)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589520" y="1554480"/>
          <a:ext cx="41148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Tier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Sellers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GMV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Avg Score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Cancel %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Premium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767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R$9.0M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4.33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Good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364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R$4.3M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3.85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1.0%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Average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R$811K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3.44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2.0%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At Risk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R$248K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2.74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5.4%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589520" y="393192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424242"/>
                </a:solidFill>
                <a:latin typeface="Calibri"/>
              </a:defRPr>
            </a:pPr>
            <a:r>
              <a:t>Key Insight</a:t>
            </a:r>
          </a:p>
          <a:p>
            <a:pPr>
              <a:spcAft>
                <a:spcPts val="4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Northeast on-time rate 85.7%</a:t>
            </a:r>
          </a:p>
          <a:p>
            <a:pPr>
              <a:spcAft>
                <a:spcPts val="4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= 7.2pp gap vs South (92.9%)</a:t>
            </a:r>
          </a:p>
          <a:p>
            <a:pPr>
              <a:spcAft>
                <a:spcPts val="4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São Paulo alone = 37.4% of total GMV</a:t>
            </a:r>
          </a:p>
          <a:p>
            <a:pPr>
              <a:spcAft>
                <a:spcPts val="4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37 At Risk sellers are a tractable</a:t>
            </a:r>
          </a:p>
          <a:p>
            <a:pPr>
              <a:spcAft>
                <a:spcPts val="4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intervention target (R$248K GMV)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24242"/>
                </a:solidFill>
                <a:latin typeface="Calibri"/>
              </a:defRPr>
            </a:pPr>
            <a:r>
              <a:t>Architecture Decisions &amp; Lessons Learned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ADR</a:t>
                      </a:r>
                    </a:p>
                  </a:txBody>
                  <a:tcPr anchor="ctr">
                    <a:solidFill>
                      <a:srgbClr val="4242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Decision</a:t>
                      </a:r>
                    </a:p>
                  </a:txBody>
                  <a:tcPr anchor="ctr">
                    <a:solidFill>
                      <a:srgbClr val="4242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Rationale</a:t>
                      </a:r>
                    </a:p>
                  </a:txBody>
                  <a:tcPr anchor="ctr">
                    <a:solidFill>
                      <a:srgbClr val="4242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ADR-001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date_key as DATE (not INTEGER)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dbt_utils.date_spine natively produces DATE;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INTEGER adds unnecessary casting everywhere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ADR-002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Dataset names: olist_raw / olist_analytics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'raw' is a BigQuery SQL reserved word;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requires backtick-quoting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ADR-003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fct_reviews.order_id → stg_orders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(not fct_sales)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756 itemless orders have reviews but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no fct_sales rows; FK would orphan them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ADR-004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Meltano extractor: tap-csv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Streaming file reads; community-maintained;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simpler config than tap-spreadsheets-anywhere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931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24242"/>
                </a:solidFill>
                <a:latin typeface="Calibri"/>
              </a:defRPr>
            </a:pPr>
            <a:r>
              <a:t>Non-Obvious Implementation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424242"/>
                </a:solidFill>
                <a:latin typeface="Calibri"/>
              </a:defRPr>
            </a:pPr>
            <a:r>
              <a:t>3-source CTE for fct_sales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items → orders → customers (direct join = zero matches)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customer_id is in stg_orders; customer_unique_id in stg_customers</a:t>
            </a:r>
          </a:p>
          <a:p>
            <a:pPr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200" b="1">
                <a:solidFill>
                  <a:srgbClr val="424242"/>
                </a:solidFill>
                <a:latin typeface="Calibri"/>
              </a:defRPr>
            </a:pPr>
            <a:r>
              <a:t>batch_job method for Meltano loader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gRPC idle timeout on 1M-row geolocation file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Write API streams go idle during sequential file 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3891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424242"/>
                </a:solidFill>
                <a:latin typeface="Calibri"/>
              </a:defRPr>
            </a:pPr>
            <a:r>
              <a:t>@multi_asset(specs=...) for Dagster producer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@asset(deps=...) made meltano_ingest downstream of raw tables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@multi_asset declares it as the PRODUCER — correct topology</a:t>
            </a:r>
          </a:p>
          <a:p>
            <a:pPr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200" b="1">
                <a:solidFill>
                  <a:srgbClr val="424242"/>
                </a:solidFill>
                <a:latin typeface="Calibri"/>
              </a:defRPr>
            </a:pPr>
            <a:r>
              <a:t>metaplane/dbt-expectations constraint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Fork v0.6.0 has no 'mostly' parameter on any macro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4 proportion-based tests documented but unenforceable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7B1FA2"/>
                </a:solidFill>
                <a:latin typeface="Calibri"/>
              </a:defRPr>
            </a:pPr>
            <a:r>
              <a:t>AI Multi-Agent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  <a:latin typeface="Calibri"/>
              </a:defRPr>
            </a:pPr>
            <a:r>
              <a:t>Human Orchestrator + 5 Specialised AI Agents — contract-driven isolation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8011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Agent</a:t>
                      </a:r>
                    </a:p>
                  </a:txBody>
                  <a:tcPr anchor="ctr">
                    <a:solidFill>
                      <a:srgbClr val="7B1FA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 anchor="ctr">
                    <a:solidFill>
                      <a:srgbClr val="7B1FA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Deliverables</a:t>
                      </a:r>
                    </a:p>
                  </a:txBody>
                  <a:tcPr anchor="ctr">
                    <a:solidFill>
                      <a:srgbClr val="7B1FA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Worktree</a:t>
                      </a:r>
                    </a:p>
                  </a:txBody>
                  <a:tcPr anchor="ctr">
                    <a:solidFill>
                      <a:srgbClr val="7B1F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Agent 1a–1d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Data Engineer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(4 phases)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Meltano config, 9 staging models,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7 mart models, 76 dbt tests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worktrees/agent-1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Agent 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Platform Engineer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Dagster orchestration, schedule,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launch scripts, .env integration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worktrees/agent-2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Agent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Analytics Engineer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4 Jupyter notebooks, 6 Parquet exports,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utils.py, analytical methodology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worktrees/agent-3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Agent 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Dashboard Engineer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Streamlit 5-page dashboard,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4 global filters, Lorenz/Gini charts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worktrees/agent-4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Agent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Data Scientist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Executive brief, slide deck,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speaker notes, generate_slides.py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worktrees/agent-5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01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Orchestrator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Human + Claude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(Opus)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Gate management, merge conflicts,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diagrams, technical report, progress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main branch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389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B1FA2"/>
                </a:solidFill>
                <a:latin typeface="Calibri"/>
              </a:defRPr>
            </a:pPr>
            <a:r>
              <a:t>Architecture Principles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Isolation: Each agent in a separate git worktree</a:t>
            </a:r>
          </a:p>
          <a:p>
            <a:pPr>
              <a:spcAft>
                <a:spcPts val="4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Dependency gates: GATE-1→4 enforce execution order</a:t>
            </a:r>
          </a:p>
          <a:p>
            <a:pPr>
              <a:spcAft>
                <a:spcPts val="4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Contract surfaces: CLAUDE.md (spec), sources.yml</a:t>
            </a:r>
          </a:p>
          <a:p>
            <a:pPr>
              <a:spcAft>
                <a:spcPts val="4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  (Meltano↔dbt), Parquet schemas (notebooks↔dashboard)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484632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42 changelog entries tracking all deviations</a:t>
            </a:r>
          </a:p>
          <a:p>
            <a:pPr>
              <a:spcAft>
                <a:spcPts val="4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Agents communicate through shared specifications,</a:t>
            </a:r>
          </a:p>
          <a:p>
            <a:pPr>
              <a:spcAft>
                <a:spcPts val="4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  not directly — the orchestrator manages gates</a:t>
            </a:r>
          </a:p>
          <a:p>
            <a:pPr>
              <a:spcAft>
                <a:spcPts val="4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  and resolves merge conflicts across worktrees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1812</Words>
  <Application>Microsoft Macintosh PowerPoint</Application>
  <PresentationFormat>Widescreen</PresentationFormat>
  <Paragraphs>363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Yeo, Koon N.</cp:lastModifiedBy>
  <cp:revision>2</cp:revision>
  <dcterms:created xsi:type="dcterms:W3CDTF">2013-01-27T09:14:16Z</dcterms:created>
  <dcterms:modified xsi:type="dcterms:W3CDTF">2026-03-18T12:24:00Z</dcterms:modified>
  <cp:category/>
</cp:coreProperties>
</file>