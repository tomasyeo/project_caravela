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91440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Brazilian E-Commerce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DC3C7"/>
                </a:solidFill>
                <a:latin typeface="Arial"/>
              </a:defRPr>
            </a:pPr>
            <a:r>
              <a:t>Project Caravela — Data Pipeline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5A5A6"/>
                </a:solidFill>
                <a:latin typeface="Arial"/>
              </a:defRPr>
            </a:pPr>
            <a:r>
              <a:t>Analysis Period: January 2017 – August 2018  |  ~100,000 Orders  |  R$15.8M GMV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  <a:latin typeface="Arial"/>
              </a:defRPr>
            </a:pPr>
            <a:r>
              <a:t>R$15.8M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Total GMV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  <a:latin typeface="Arial"/>
              </a:defRPr>
            </a:pPr>
            <a:r>
              <a:t>98,353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Total 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Arial"/>
              </a:defRPr>
            </a:pPr>
            <a:r>
              <a:t>63.6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NPS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Arial"/>
              </a:defRPr>
            </a:pPr>
            <a:r>
              <a:t>91.9%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On-Time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  <a:latin typeface="Arial"/>
              </a:defRPr>
            </a:pPr>
            <a:r>
              <a:t>R$160.51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Avg Order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0175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154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  <a:latin typeface="Arial"/>
              </a:defRPr>
            </a:pPr>
            <a:r>
              <a:t>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Repeat Purchase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Arial"/>
              </a:defRPr>
            </a:pPr>
            <a:r>
              <a:t>0.46%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Cancellation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0175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154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80B9"/>
                </a:solidFill>
                <a:latin typeface="Arial"/>
              </a:defRPr>
            </a:pPr>
            <a:r>
              <a:t>~103%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Arial"/>
              </a:defRPr>
            </a:pPr>
            <a:r>
              <a:t>H1→H2 2017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•  GMV doubled from H1 to H2 2017, driven by volume (not higher order values)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023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•  96.9% of customers make only one purchase — retention is the critical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9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•  Northeast delivery lags at 85.7% on-time (vs 92.9% South) — impacting satisfaction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97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•  Southeast dominates with 64.6% of GMV; São Paulo alone = 37.4%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Market Overview: Monthly GMV &amp;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Jan 2017 – Aug 2018  |  Peak: Nov 2017 (Black Friday)</a:t>
            </a:r>
          </a:p>
        </p:txBody>
      </p:sp>
      <p:pic>
        <p:nvPicPr>
          <p:cNvPr id="5" name="Picture 4" descr="01_monthly_gm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H1→H2 2017: ~103% GMV growth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H2 2017→H1 2018: ~38% (decelerating)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Nov 2017 peak: 7,451 orders, R$1.18M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Black Friday was volume-driven — AOV dropped 6%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Sep/Oct 2018 excluded (data artefacts)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Average Order Value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Stable at R$160.51 — growth is volume-driven, not ticket-size-driven</a:t>
            </a:r>
          </a:p>
        </p:txBody>
      </p:sp>
      <p:pic>
        <p:nvPicPr>
          <p:cNvPr id="5" name="Picture 4" descr="02_ao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Overall AOV: R$160.51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Remarkably flat across 20 months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Credit card AOV: R$152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Boleto AOV: R$127 (−20%)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Instalment access enables larger baskets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Order Fulfilment &amp; Cancellation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97.8% delivered  |  0.46% cancellation rate</a:t>
            </a:r>
          </a:p>
        </p:txBody>
      </p:sp>
      <p:pic>
        <p:nvPicPr>
          <p:cNvPr id="5" name="Picture 4" descr="03_order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97.8% of orders delivered successfully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Cancellation rate: just 0.46% (448 orders)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Strong inventory management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Remaining 1.7%: in-transit pipeline statuses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Customer Segmentation (RFM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95,420 unique customers  |  Reference date: 31 Aug 2018</a:t>
            </a:r>
          </a:p>
        </p:txBody>
      </p:sp>
      <p:pic>
        <p:nvPicPr>
          <p:cNvPr id="5" name="Picture 4" descr="04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58.2% Hibernating (55,552)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38.7% Promising (36,956)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Only 3.1% repeat purchase rate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131 Champions (0.1%) — crown jewels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Marketplace model = low platform loyalty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Promising segment = top retention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Customer Satisfaction — NPS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Net Promoter Score: 63.6 (Strong)</a:t>
            </a:r>
          </a:p>
        </p:txBody>
      </p:sp>
      <p:pic>
        <p:nvPicPr>
          <p:cNvPr id="5" name="Picture 4" descr="05_np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Promoters (score 4–5): 77.7%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Detractors (score 1–2): 14.1%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NPS = 77.7% − 14.1% = 63.6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Strong overall, but delivery delays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are the #1 driver of detractors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Insight: Delivery Delays Destroy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2.61-point score drop from early delivery to 7+ days late</a:t>
            </a:r>
          </a:p>
        </p:txBody>
      </p:sp>
      <p:pic>
        <p:nvPicPr>
          <p:cNvPr id="5" name="Picture 4" descr="06_delay_vs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Early delivery: score 4.30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On-time: 3.89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1–3 days late: 3.29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4–7 days late: 2.11 (−1.19 cliff!)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7+ days late: 1.69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The 4-day mark is where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customer patience breaks.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6,359 orders (6.6%) were 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Product &amp; Revenue: Top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Top 15 categories = 76.4% of GMV  |  74 categories total</a:t>
            </a:r>
          </a:p>
        </p:txBody>
      </p:sp>
      <p:pic>
        <p:nvPicPr>
          <p:cNvPr id="5" name="Picture 4" descr="07_top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#1 Health &amp; Beauty: 9.1%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#2 Watches &amp; Gifts: 8.2%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#3 Bed, Bath &amp; Table: 7.9%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Category Gini: 0.71 (long tail)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HHI: 484 (competitive, no dominance)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Freight = 14.2% of GMV (R$2.24M)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Payment Method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Credit card dominance with instalment culture</a:t>
            </a:r>
          </a:p>
        </p:txBody>
      </p:sp>
      <p:pic>
        <p:nvPicPr>
          <p:cNvPr id="5" name="Picture 4" descr="08_payment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Credit Card: 77.0% of orders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Boleto: 19.9%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Debit: 1.5% | Voucher: 1.6%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Median instalments: 3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7.3% choose 10+ instalments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CC AOV 20% higher than boleto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Delivery Performance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National on-time rate: 91.9%  |  Northeast lags at 85.7%</a:t>
            </a:r>
          </a:p>
        </p:txBody>
      </p:sp>
      <p:pic>
        <p:nvPicPr>
          <p:cNvPr id="5" name="Picture 4" descr="09_regional_o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South: 92.9% (best)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Southeast: 92.5%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Central-West: 92.0%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North: 90.2%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Northeast: 85.7% (worst)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NE transit: 20.6 days avg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vs SE: 12.9 days avg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7.2pp gap → satisfaction gap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Geographic Revenue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Southeast = 64.6% of GMV  |  São Paulo alone = 37.4%</a:t>
            </a:r>
          </a:p>
        </p:txBody>
      </p:sp>
      <p:pic>
        <p:nvPicPr>
          <p:cNvPr id="5" name="Picture 4" descr="10_regional_gm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Southeast: R$10.2M (64.6%)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South: R$2.3M (14.5%)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Northeast: R$1.9M (11.9%)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Central-West: R$1.0M (6.5%)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North: R$0.4M (2.6%)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North + Central-West = 9.1%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but &gt;20% of Brazil’s population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Seller Performance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Arial"/>
              </a:defRPr>
            </a:pPr>
            <a:r>
              <a:t>3,068 sellers  |  Top 18.3% generate 80% of GMV</a:t>
            </a:r>
          </a:p>
        </p:txBody>
      </p:sp>
      <p:pic>
        <p:nvPicPr>
          <p:cNvPr id="5" name="Picture 4" descr="11_sell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Seller Gini: 0.78 (high inequality)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CR4: 6.1% (no monopoly)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HHI: 35 (competitive market)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767 Premium sellers (score ≥4.3)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37 At Risk sellers (score &lt;3.0)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Avg platform score: 3.98/5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Technical Risk: Historical Data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Dataset covers 2016–2018 — consumer behaviour has evolved since 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Mitigation: Pipeline is repeatable; refresh with current data and monitor metric drift quarterly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Business Risk: Single-Purchase Customer Dominance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96.9% of customers buy only once — CAC amortised over a single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As high-penetration regions saturate, acquisition costs increase unsustainably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Mitigation: Target 36,956 Promising customers with post-purchase engagement programmes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Business Risk: Regional Delivery Disparity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Northeast on-time rate 85.7% vs South 92.9% — a 7.2pp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Late deliveries score 1.69 vs 4.30 for early — compounding NE growth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Mitigation: Regional carrier partnerships + distribution centres in NE and North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1. Customer Retention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Target 36,956 Promising segment customers within 30 days of first purchase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Evidence: Repeat rate declining from 5.3% (2017) to 2.6% (2018 cohorts)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2. North &amp; Northeast Delivery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Partner with regional carriers; establish fulfilment hubs in Recife and Manaus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Evidence: NE on-time rate 85.7% vs South 92.9%; North transit 23.6 days 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3. Optimise Delivery Promise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A/B test tighter estimates in SE (actual 12.9d vs promised 24.5d = 11.6d buffer)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Hypothesis: Tighter promises increase checkout conversion without hurting on-time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4. Seller Quality 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37 At Risk sellers (avg score 2.74, 5.4% cancel rate) — 90-day improvement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Arial"/>
              </a:defRPr>
            </a:pPr>
            <a:r>
              <a:t>5. Instalment-Driven AOV Uplift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CC AOV R$152 vs boleto R$127; promote instalments to boleto-inclined buyers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91440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C3C7"/>
                </a:solidFill>
                <a:latin typeface="Arial"/>
              </a:defRPr>
            </a:pPr>
            <a:r>
              <a:t>Project Caravela  | 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Interactive dashboard available at: streamlit run dashboard.py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