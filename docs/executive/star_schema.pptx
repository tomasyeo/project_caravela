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 snapToObjects="1">
      <p:cViewPr>
        <p:scale>
          <a:sx n="112" d="100"/>
          <a:sy n="112" d="100"/>
        </p:scale>
        <p:origin x="1024" y="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09728" cy="41148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565C0"/>
                </a:solidFill>
                <a:latin typeface="Calibri"/>
              </a:defRPr>
            </a:pPr>
            <a:r>
              <a:t>Star Schema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23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Calibri"/>
              </a:defRPr>
            </a:pPr>
            <a:r>
              <a:t>Project Caravela  —  olist_analytics  |  BigQuery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757575"/>
                </a:solidFill>
                <a:latin typeface="Calibri"/>
              </a:defRPr>
            </a:pPr>
            <a:r>
              <a:t>3 fact tables  ·  4 dimension tables  ·  Serving ~100k orders (2016–2018)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931920"/>
            <a:ext cx="109728" cy="3474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39319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565C0"/>
                </a:solidFill>
                <a:latin typeface="Calibri"/>
              </a:defRPr>
            </a:pPr>
            <a:r>
              <a:t>01  What is a Star Schema?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407408"/>
            <a:ext cx="109728" cy="34747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440740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5100"/>
                </a:solidFill>
                <a:latin typeface="Calibri"/>
              </a:defRPr>
            </a:pPr>
            <a:r>
              <a:t>02  Schema Overview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882896"/>
            <a:ext cx="109728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488289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  <a:latin typeface="Calibri"/>
              </a:defRPr>
            </a:pPr>
            <a:r>
              <a:t>03  Fact Tables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358383"/>
            <a:ext cx="109728" cy="347472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5358383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B1FA2"/>
                </a:solidFill>
                <a:latin typeface="Calibri"/>
              </a:defRPr>
            </a:pPr>
            <a:r>
              <a:t>04  Dimension Tables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833872"/>
            <a:ext cx="109728" cy="347472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583387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38F"/>
                </a:solidFill>
                <a:latin typeface="Calibri"/>
              </a:defRPr>
            </a:pPr>
            <a:r>
              <a:t>05  Design Decisions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565C0"/>
                </a:solidFill>
                <a:latin typeface="Calibri"/>
              </a:defRPr>
            </a:pPr>
            <a:r>
              <a:t>What is a Star Schema?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57575"/>
                </a:solidFill>
                <a:latin typeface="Calibri"/>
              </a:defRPr>
            </a:pPr>
            <a:r>
              <a:t>Facts at the centre, dimensions radiating outward — optimised for analytics joins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0F69D2E-CB90-B7EE-11F0-C02624C42589}"/>
              </a:ext>
            </a:extLst>
          </p:cNvPr>
          <p:cNvGrpSpPr/>
          <p:nvPr/>
        </p:nvGrpSpPr>
        <p:grpSpPr>
          <a:xfrm>
            <a:off x="3401492" y="3154680"/>
            <a:ext cx="1828800" cy="1097280"/>
            <a:chOff x="4206240" y="3108960"/>
            <a:chExt cx="1828800" cy="1097280"/>
          </a:xfrm>
        </p:grpSpPr>
        <p:sp>
          <p:nvSpPr>
            <p:cNvPr id="5" name="Rounded Rectangle 4"/>
            <p:cNvSpPr/>
            <p:nvPr/>
          </p:nvSpPr>
          <p:spPr>
            <a:xfrm>
              <a:off x="4206240" y="3108960"/>
              <a:ext cx="1828800" cy="1005840"/>
            </a:xfrm>
            <a:prstGeom prst="roundRect">
              <a:avLst/>
            </a:prstGeom>
            <a:solidFill>
              <a:srgbClr val="E65100"/>
            </a:solidFill>
            <a:ln w="25400">
              <a:solidFill>
                <a:srgbClr val="E651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206240" y="3200400"/>
              <a:ext cx="1828800" cy="10058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300" b="1">
                  <a:solidFill>
                    <a:srgbClr val="FFFFFF"/>
                  </a:solidFill>
                  <a:latin typeface="Calibri"/>
                </a:defRPr>
              </a:pPr>
              <a:r>
                <a:rPr dirty="0" err="1"/>
                <a:t>fct_sales</a:t>
              </a:r>
              <a:br>
                <a:rPr dirty="0"/>
              </a:br>
              <a:r>
                <a:rPr dirty="0"/>
                <a:t>(fact table)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7C64026-70C2-F5EF-F16C-A7288E6106EE}"/>
              </a:ext>
            </a:extLst>
          </p:cNvPr>
          <p:cNvGrpSpPr/>
          <p:nvPr/>
        </p:nvGrpSpPr>
        <p:grpSpPr>
          <a:xfrm>
            <a:off x="5791201" y="3278124"/>
            <a:ext cx="1828800" cy="758952"/>
            <a:chOff x="7132320" y="2697480"/>
            <a:chExt cx="1828800" cy="758952"/>
          </a:xfrm>
        </p:grpSpPr>
        <p:sp>
          <p:nvSpPr>
            <p:cNvPr id="11" name="Rounded Rectangle 10"/>
            <p:cNvSpPr/>
            <p:nvPr/>
          </p:nvSpPr>
          <p:spPr>
            <a:xfrm>
              <a:off x="7132320" y="2697480"/>
              <a:ext cx="1828800" cy="685800"/>
            </a:xfrm>
            <a:prstGeom prst="roundRect">
              <a:avLst/>
            </a:prstGeom>
            <a:solidFill>
              <a:srgbClr val="7B1FA2"/>
            </a:solidFill>
            <a:ln w="25400">
              <a:solidFill>
                <a:srgbClr val="7B1F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132320" y="2770632"/>
              <a:ext cx="1828800" cy="6858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200" b="1">
                  <a:solidFill>
                    <a:srgbClr val="FFFFFF"/>
                  </a:solidFill>
                  <a:latin typeface="Calibri"/>
                </a:defRPr>
              </a:pPr>
              <a:r>
                <a:rPr dirty="0" err="1"/>
                <a:t>dim_sellers</a:t>
              </a:r>
              <a:endParaRPr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15006E6-1324-9230-260F-9B3674405BDF}"/>
              </a:ext>
            </a:extLst>
          </p:cNvPr>
          <p:cNvGrpSpPr/>
          <p:nvPr/>
        </p:nvGrpSpPr>
        <p:grpSpPr>
          <a:xfrm>
            <a:off x="2316481" y="1097280"/>
            <a:ext cx="4023360" cy="4690872"/>
            <a:chOff x="3108960" y="1051560"/>
            <a:chExt cx="4023360" cy="4690872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4C6C724C-D21C-476A-AEF3-B9B7AC81C882}"/>
                </a:ext>
              </a:extLst>
            </p:cNvPr>
            <p:cNvGrpSpPr/>
            <p:nvPr/>
          </p:nvGrpSpPr>
          <p:grpSpPr>
            <a:xfrm>
              <a:off x="4206240" y="1051560"/>
              <a:ext cx="1828800" cy="758952"/>
              <a:chOff x="4206240" y="1051560"/>
              <a:chExt cx="1828800" cy="758952"/>
            </a:xfrm>
          </p:grpSpPr>
          <p:sp>
            <p:nvSpPr>
              <p:cNvPr id="9" name="Rounded Rectangle 8"/>
              <p:cNvSpPr/>
              <p:nvPr/>
            </p:nvSpPr>
            <p:spPr>
              <a:xfrm>
                <a:off x="4206240" y="1051560"/>
                <a:ext cx="1828800" cy="685800"/>
              </a:xfrm>
              <a:prstGeom prst="roundRect">
                <a:avLst/>
              </a:prstGeom>
              <a:solidFill>
                <a:srgbClr val="2E7D32"/>
              </a:solidFill>
              <a:ln w="25400">
                <a:solidFill>
                  <a:srgbClr val="2E7D3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4206240" y="1124712"/>
                <a:ext cx="1828800" cy="6858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200" b="1">
                    <a:solidFill>
                      <a:srgbClr val="FFFFFF"/>
                    </a:solidFill>
                    <a:latin typeface="Calibri"/>
                  </a:defRPr>
                </a:pPr>
                <a:r>
                  <a:rPr dirty="0" err="1"/>
                  <a:t>dim_products</a:t>
                </a:r>
                <a:endParaRPr dirty="0"/>
              </a:p>
            </p:txBody>
          </p:sp>
        </p:grpSp>
        <p:sp>
          <p:nvSpPr>
            <p:cNvPr id="13" name="Rounded Rectangle 12"/>
            <p:cNvSpPr/>
            <p:nvPr/>
          </p:nvSpPr>
          <p:spPr>
            <a:xfrm>
              <a:off x="4206240" y="4983480"/>
              <a:ext cx="1828800" cy="685800"/>
            </a:xfrm>
            <a:prstGeom prst="roundRect">
              <a:avLst/>
            </a:prstGeom>
            <a:solidFill>
              <a:srgbClr val="00838F"/>
            </a:solidFill>
            <a:ln w="25400">
              <a:solidFill>
                <a:srgbClr val="00838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206240" y="5056632"/>
              <a:ext cx="1828800" cy="6858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200" b="1">
                  <a:solidFill>
                    <a:srgbClr val="FFFFFF"/>
                  </a:solidFill>
                  <a:latin typeface="Calibri"/>
                </a:defRPr>
              </a:pPr>
              <a:r>
                <a:t>dim_date</a:t>
              </a: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24A1035-86D5-17BD-9573-6491674EC0C0}"/>
                </a:ext>
              </a:extLst>
            </p:cNvPr>
            <p:cNvGrpSpPr/>
            <p:nvPr/>
          </p:nvGrpSpPr>
          <p:grpSpPr>
            <a:xfrm>
              <a:off x="3108960" y="1737360"/>
              <a:ext cx="4023360" cy="3246120"/>
              <a:chOff x="3108960" y="1737360"/>
              <a:chExt cx="4023360" cy="3246120"/>
            </a:xfrm>
          </p:grpSpPr>
          <p:sp>
            <p:nvSpPr>
              <p:cNvPr id="15" name="Rectangle 14"/>
              <p:cNvSpPr/>
              <p:nvPr/>
            </p:nvSpPr>
            <p:spPr>
              <a:xfrm>
                <a:off x="3108960" y="3611880"/>
                <a:ext cx="1097280" cy="36576"/>
              </a:xfrm>
              <a:prstGeom prst="rect">
                <a:avLst/>
              </a:prstGeom>
              <a:solidFill>
                <a:srgbClr val="1565C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Rectangle 15"/>
              <p:cNvSpPr/>
              <p:nvPr/>
            </p:nvSpPr>
            <p:spPr>
              <a:xfrm>
                <a:off x="5120640" y="1737360"/>
                <a:ext cx="36576" cy="1371600"/>
              </a:xfrm>
              <a:prstGeom prst="rect">
                <a:avLst/>
              </a:prstGeom>
              <a:solidFill>
                <a:srgbClr val="2E7D3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Rectangle 16"/>
              <p:cNvSpPr/>
              <p:nvPr/>
            </p:nvSpPr>
            <p:spPr>
              <a:xfrm>
                <a:off x="6035040" y="3611880"/>
                <a:ext cx="1097280" cy="36576"/>
              </a:xfrm>
              <a:prstGeom prst="rect">
                <a:avLst/>
              </a:prstGeom>
              <a:solidFill>
                <a:srgbClr val="7B1FA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Rectangle 17"/>
              <p:cNvSpPr/>
              <p:nvPr/>
            </p:nvSpPr>
            <p:spPr>
              <a:xfrm>
                <a:off x="5120640" y="4114800"/>
                <a:ext cx="36576" cy="868680"/>
              </a:xfrm>
              <a:prstGeom prst="rect">
                <a:avLst/>
              </a:prstGeom>
              <a:solidFill>
                <a:srgbClr val="00838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9" name="TextBox 18"/>
          <p:cNvSpPr txBox="1"/>
          <p:nvPr/>
        </p:nvSpPr>
        <p:spPr>
          <a:xfrm>
            <a:off x="7863840" y="1280160"/>
            <a:ext cx="4023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424242"/>
                </a:solidFill>
                <a:latin typeface="Calibri"/>
              </a:defRPr>
            </a:pPr>
            <a:r>
              <a:t>Core idea</a:t>
            </a:r>
          </a:p>
          <a:p>
            <a:pPr lvl="1">
              <a:spcAft>
                <a:spcPts val="3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Fact table = the event being measured</a:t>
            </a:r>
          </a:p>
          <a:p>
            <a:pPr lvl="1">
              <a:spcAft>
                <a:spcPts val="3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Dimension table = descriptive context</a:t>
            </a:r>
          </a:p>
          <a:p>
            <a:pPr lvl="1">
              <a:spcAft>
                <a:spcPts val="3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Each dimension is joined once per query</a:t>
            </a:r>
          </a:p>
          <a:p>
            <a:pPr>
              <a:spcAft>
                <a:spcPts val="3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endParaRPr/>
          </a:p>
          <a:p>
            <a:pPr>
              <a:spcAft>
                <a:spcPts val="300"/>
              </a:spcAft>
              <a:defRPr sz="1200" b="1">
                <a:solidFill>
                  <a:srgbClr val="424242"/>
                </a:solidFill>
                <a:latin typeface="Calibri"/>
              </a:defRPr>
            </a:pPr>
            <a:r>
              <a:t>Why it works for analytics</a:t>
            </a:r>
          </a:p>
          <a:p>
            <a:pPr lvl="1">
              <a:spcAft>
                <a:spcPts val="3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Single-hop joins: fact → dim</a:t>
            </a:r>
          </a:p>
          <a:p>
            <a:pPr lvl="1">
              <a:spcAft>
                <a:spcPts val="3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No multi-table chain navigation</a:t>
            </a:r>
          </a:p>
          <a:p>
            <a:pPr lvl="1">
              <a:spcAft>
                <a:spcPts val="3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Dimensions evolve independently</a:t>
            </a:r>
          </a:p>
          <a:p>
            <a:pPr lvl="1">
              <a:spcAft>
                <a:spcPts val="3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Clear grain prevents double-counting</a:t>
            </a:r>
          </a:p>
          <a:p>
            <a:pPr>
              <a:spcAft>
                <a:spcPts val="3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endParaRPr/>
          </a:p>
          <a:p>
            <a:pPr>
              <a:spcAft>
                <a:spcPts val="300"/>
              </a:spcAft>
              <a:defRPr sz="1200" b="1">
                <a:solidFill>
                  <a:srgbClr val="424242"/>
                </a:solidFill>
                <a:latin typeface="Calibri"/>
              </a:defRPr>
            </a:pPr>
            <a:r>
              <a:t>The 'grain' rule</a:t>
            </a:r>
          </a:p>
          <a:p>
            <a:pPr lvl="1">
              <a:spcAft>
                <a:spcPts val="3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Every fact table has exactly one grain —</a:t>
            </a:r>
          </a:p>
          <a:p>
            <a:pPr lvl="1">
              <a:spcAft>
                <a:spcPts val="3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the most atomic event it records</a:t>
            </a:r>
          </a:p>
          <a:p>
            <a:pPr lvl="1">
              <a:spcAft>
                <a:spcPts val="3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Mixing grains in one table is the most</a:t>
            </a:r>
          </a:p>
          <a:p>
            <a:pPr lvl="1">
              <a:spcAft>
                <a:spcPts val="3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common star schema mistake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D1E9B2D-0DFA-454B-CF3C-CCCD8C47C7C0}"/>
              </a:ext>
            </a:extLst>
          </p:cNvPr>
          <p:cNvGrpSpPr/>
          <p:nvPr/>
        </p:nvGrpSpPr>
        <p:grpSpPr>
          <a:xfrm>
            <a:off x="963093" y="3296412"/>
            <a:ext cx="1828800" cy="758952"/>
            <a:chOff x="1280160" y="2697480"/>
            <a:chExt cx="1828800" cy="758952"/>
          </a:xfrm>
        </p:grpSpPr>
        <p:sp>
          <p:nvSpPr>
            <p:cNvPr id="7" name="Rounded Rectangle 6"/>
            <p:cNvSpPr/>
            <p:nvPr/>
          </p:nvSpPr>
          <p:spPr>
            <a:xfrm>
              <a:off x="1280160" y="2697480"/>
              <a:ext cx="1828800" cy="685800"/>
            </a:xfrm>
            <a:prstGeom prst="roundRect">
              <a:avLst/>
            </a:prstGeom>
            <a:solidFill>
              <a:srgbClr val="1565C0"/>
            </a:solidFill>
            <a:ln w="25400">
              <a:solidFill>
                <a:srgbClr val="1565C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280160" y="2770632"/>
              <a:ext cx="1828800" cy="6858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200" b="1">
                  <a:solidFill>
                    <a:srgbClr val="FFFFFF"/>
                  </a:solidFill>
                  <a:latin typeface="Calibri"/>
                </a:defRPr>
              </a:pPr>
              <a:r>
                <a:rPr dirty="0" err="1"/>
                <a:t>dim_customers</a:t>
              </a:r>
              <a:endParaRPr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65100"/>
                </a:solidFill>
                <a:latin typeface="Calibri"/>
              </a:defRPr>
            </a:pPr>
            <a:r>
              <a:t>Schema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57575"/>
                </a:solidFill>
                <a:latin typeface="Calibri"/>
              </a:defRPr>
            </a:pPr>
            <a:r>
              <a:t>olist_analytics dataset  —  3 facts × 4 dimensions  —  all relationships shown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188720"/>
            <a:ext cx="2148840" cy="25603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1752" y="1188720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fct_sales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444752"/>
            <a:ext cx="2148840" cy="256032"/>
          </a:xfrm>
          <a:prstGeom prst="rect">
            <a:avLst/>
          </a:prstGeom>
          <a:solidFill>
            <a:srgbClr val="FFECB3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1752" y="1444752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Calibri"/>
              </a:defRPr>
            </a:pPr>
            <a:r>
              <a:t>🔑 order_id + item_id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700784"/>
            <a:ext cx="21488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1752" y="1700784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Calibri"/>
              </a:defRPr>
            </a:pPr>
            <a:r>
              <a:t>customer_unique_id  FK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1956816"/>
            <a:ext cx="2148840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1752" y="1956816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Calibri"/>
              </a:defRPr>
            </a:pPr>
            <a:r>
              <a:t>product_id  FK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2212848"/>
            <a:ext cx="21488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1752" y="2212848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Calibri"/>
              </a:defRPr>
            </a:pPr>
            <a:r>
              <a:t>seller_id  FK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2468880"/>
            <a:ext cx="2148840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01752" y="2468880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Calibri"/>
              </a:defRPr>
            </a:pPr>
            <a:r>
              <a:t>date_key  FK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2724912"/>
            <a:ext cx="21488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01752" y="2724912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Calibri"/>
              </a:defRPr>
            </a:pPr>
            <a:r>
              <a:t>price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2980944"/>
            <a:ext cx="2148840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01752" y="2980944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Calibri"/>
              </a:defRPr>
            </a:pPr>
            <a:r>
              <a:t>freight_value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3236976"/>
            <a:ext cx="21488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01752" y="3236976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Calibri"/>
              </a:defRPr>
            </a:pPr>
            <a:r>
              <a:t>total_sale_amount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3493008"/>
            <a:ext cx="2148840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01752" y="3493008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Calibri"/>
              </a:defRPr>
            </a:pPr>
            <a:r>
              <a:t>order_delivered_…  NULLABLE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3749040"/>
            <a:ext cx="21488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01752" y="3749040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Calibri"/>
              </a:defRPr>
            </a:pPr>
            <a:r>
              <a:t>order_estimated_…  NULLABLE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0" y="1188720"/>
            <a:ext cx="2148840" cy="25603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816352" y="1188720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fct_reviews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0" y="1444752"/>
            <a:ext cx="2148840" cy="256032"/>
          </a:xfrm>
          <a:prstGeom prst="rect">
            <a:avLst/>
          </a:prstGeom>
          <a:solidFill>
            <a:srgbClr val="FFECB3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816352" y="1444752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Calibri"/>
              </a:defRPr>
            </a:pPr>
            <a:r>
              <a:t>🔑 review_id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0" y="1700784"/>
            <a:ext cx="21488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816352" y="1700784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Calibri"/>
              </a:defRPr>
            </a:pPr>
            <a:r>
              <a:t>order_id  → stg_orders ⚠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0" y="1956816"/>
            <a:ext cx="2148840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816352" y="1956816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Calibri"/>
              </a:defRPr>
            </a:pPr>
            <a:r>
              <a:t>date_key  FK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0" y="2212848"/>
            <a:ext cx="21488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816352" y="2212848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Calibri"/>
              </a:defRPr>
            </a:pPr>
            <a:r>
              <a:t>review_score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0" y="2468880"/>
            <a:ext cx="2148840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816352" y="2468880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Calibri"/>
              </a:defRPr>
            </a:pPr>
            <a:r>
              <a:t>review_comment_title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0" y="2724912"/>
            <a:ext cx="21488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816352" y="2724912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Calibri"/>
              </a:defRPr>
            </a:pPr>
            <a:r>
              <a:t>review_comment_message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57800" y="1188720"/>
            <a:ext cx="2148840" cy="25603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330952" y="1188720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fct_payments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257800" y="1444752"/>
            <a:ext cx="2148840" cy="256032"/>
          </a:xfrm>
          <a:prstGeom prst="rect">
            <a:avLst/>
          </a:prstGeom>
          <a:solidFill>
            <a:srgbClr val="FFECB3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330952" y="1444752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Calibri"/>
              </a:defRPr>
            </a:pPr>
            <a:r>
              <a:t>🔑 order_id + payment_seq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257800" y="1700784"/>
            <a:ext cx="21488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330952" y="1700784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Calibri"/>
              </a:defRPr>
            </a:pPr>
            <a:r>
              <a:t>date_key  FK  NULLABLE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57800" y="1956816"/>
            <a:ext cx="2148840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330952" y="1956816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Calibri"/>
              </a:defRPr>
            </a:pPr>
            <a:r>
              <a:t>payment_type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257800" y="2212848"/>
            <a:ext cx="21488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330952" y="2212848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Calibri"/>
              </a:defRPr>
            </a:pPr>
            <a:r>
              <a:t>payment_installments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257800" y="2468880"/>
            <a:ext cx="2148840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330952" y="2468880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Calibri"/>
              </a:defRPr>
            </a:pPr>
            <a:r>
              <a:t>payment_value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28600" y="4572000"/>
            <a:ext cx="2148840" cy="25603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01752" y="4572000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dim_customers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8600" y="4828032"/>
            <a:ext cx="2148840" cy="256032"/>
          </a:xfrm>
          <a:prstGeom prst="rect">
            <a:avLst/>
          </a:prstGeom>
          <a:solidFill>
            <a:srgbClr val="FFECB3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01752" y="4828032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Calibri"/>
              </a:defRPr>
            </a:pPr>
            <a:r>
              <a:t>🔑 customer_unique_id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28600" y="5084064"/>
            <a:ext cx="21488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01752" y="5084064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Calibri"/>
              </a:defRPr>
            </a:pPr>
            <a:r>
              <a:t>customer_city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28600" y="5340096"/>
            <a:ext cx="2148840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01752" y="5340096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Calibri"/>
              </a:defRPr>
            </a:pPr>
            <a:r>
              <a:t>customer_state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28600" y="5596128"/>
            <a:ext cx="21488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01752" y="5596128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Calibri"/>
              </a:defRPr>
            </a:pPr>
            <a:r>
              <a:t>customer_zip_code_prefix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28600" y="5852160"/>
            <a:ext cx="2148840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01752" y="5852160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Calibri"/>
              </a:defRPr>
            </a:pPr>
            <a:r>
              <a:t>geolocation_lat  NULLABLE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28600" y="6108192"/>
            <a:ext cx="21488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01752" y="6108192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Calibri"/>
              </a:defRPr>
            </a:pPr>
            <a:r>
              <a:t>geolocation_lng  NULLABLE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43200" y="4572000"/>
            <a:ext cx="2148840" cy="2560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2816352" y="4572000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dim_products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43200" y="4828032"/>
            <a:ext cx="2148840" cy="256032"/>
          </a:xfrm>
          <a:prstGeom prst="rect">
            <a:avLst/>
          </a:prstGeom>
          <a:solidFill>
            <a:srgbClr val="FFECB3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2816352" y="4828032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Calibri"/>
              </a:defRPr>
            </a:pPr>
            <a:r>
              <a:t>🔑 product_id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0" y="5084064"/>
            <a:ext cx="21488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2816352" y="5084064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Calibri"/>
              </a:defRPr>
            </a:pPr>
            <a:r>
              <a:t>product_category_name_english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743200" y="5340096"/>
            <a:ext cx="2148840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2816352" y="5340096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Calibri"/>
              </a:defRPr>
            </a:pPr>
            <a:r>
              <a:t>product_name_length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0" y="5596128"/>
            <a:ext cx="21488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2816352" y="5596128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Calibri"/>
              </a:defRPr>
            </a:pPr>
            <a:r>
              <a:t>product_weight_g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743200" y="5852160"/>
            <a:ext cx="2148840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2816352" y="5852160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Calibri"/>
              </a:defRPr>
            </a:pPr>
            <a:r>
              <a:t>product_photos_qty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257800" y="4572000"/>
            <a:ext cx="2148840" cy="256032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5330952" y="4572000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dim_sellers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257800" y="4828032"/>
            <a:ext cx="2148840" cy="256032"/>
          </a:xfrm>
          <a:prstGeom prst="rect">
            <a:avLst/>
          </a:prstGeom>
          <a:solidFill>
            <a:srgbClr val="FFECB3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5330952" y="4828032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Calibri"/>
              </a:defRPr>
            </a:pPr>
            <a:r>
              <a:t>🔑 seller_id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257800" y="5084064"/>
            <a:ext cx="21488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330952" y="5084064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Calibri"/>
              </a:defRPr>
            </a:pPr>
            <a:r>
              <a:t>seller_city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257800" y="5340096"/>
            <a:ext cx="2148840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330952" y="5340096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Calibri"/>
              </a:defRPr>
            </a:pPr>
            <a:r>
              <a:t>seller_state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257800" y="5596128"/>
            <a:ext cx="21488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5330952" y="5596128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Calibri"/>
              </a:defRPr>
            </a:pPr>
            <a:r>
              <a:t>seller_zip_code_prefix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257800" y="5852160"/>
            <a:ext cx="2148840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5330952" y="5852160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Calibri"/>
              </a:defRPr>
            </a:pPr>
            <a:r>
              <a:t>geolocation_lat  NULLABLE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257800" y="6108192"/>
            <a:ext cx="21488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5330952" y="6108192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Calibri"/>
              </a:defRPr>
            </a:pPr>
            <a:r>
              <a:t>geolocation_lng  NULLABLE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772400" y="3108960"/>
            <a:ext cx="2148840" cy="256032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7845552" y="3108960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dim_date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772400" y="3364992"/>
            <a:ext cx="2148840" cy="256032"/>
          </a:xfrm>
          <a:prstGeom prst="rect">
            <a:avLst/>
          </a:prstGeom>
          <a:solidFill>
            <a:srgbClr val="FFECB3"/>
          </a:solidFill>
          <a:ln w="12700">
            <a:solidFill>
              <a:srgbClr val="008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7845552" y="3364992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Calibri"/>
              </a:defRPr>
            </a:pPr>
            <a:r>
              <a:t>🔑 date_key  (DATE)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772400" y="3621024"/>
            <a:ext cx="21488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08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7845552" y="3621024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Calibri"/>
              </a:defRPr>
            </a:pPr>
            <a:r>
              <a:t>year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772400" y="3877056"/>
            <a:ext cx="2148840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008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7845552" y="3877056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Calibri"/>
              </a:defRPr>
            </a:pPr>
            <a:r>
              <a:t>month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772400" y="4133088"/>
            <a:ext cx="21488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08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7845552" y="4133088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Calibri"/>
              </a:defRPr>
            </a:pPr>
            <a:r>
              <a:t>day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772400" y="4389120"/>
            <a:ext cx="2148840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008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7845552" y="4389120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Calibri"/>
              </a:defRPr>
            </a:pPr>
            <a:r>
              <a:t>day_of_week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7772400" y="4645152"/>
            <a:ext cx="21488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08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7845552" y="4645152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24242"/>
                </a:solidFill>
                <a:latin typeface="Calibri"/>
              </a:defRPr>
            </a:pPr>
            <a:r>
              <a:t>quarter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743200" y="3520440"/>
            <a:ext cx="2148840" cy="502920"/>
          </a:xfrm>
          <a:prstGeom prst="rect">
            <a:avLst/>
          </a:prstGeom>
          <a:solidFill>
            <a:srgbClr val="EEEEEE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2788920" y="3538728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62828"/>
                </a:solidFill>
                <a:latin typeface="Calibri"/>
              </a:defRPr>
            </a:pPr>
            <a:r>
              <a:t>stg_orders  ← fct_reviews.order_id  ⚠ ADR-003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005840" y="3200400"/>
            <a:ext cx="36576" cy="13716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1280160" y="3200400"/>
            <a:ext cx="36576" cy="12344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2377440" y="3383280"/>
            <a:ext cx="3931920" cy="36576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6309360" y="3383280"/>
            <a:ext cx="36576" cy="118872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ectangle 112"/>
          <p:cNvSpPr/>
          <p:nvPr/>
        </p:nvSpPr>
        <p:spPr>
          <a:xfrm>
            <a:off x="2377440" y="1920240"/>
            <a:ext cx="5486400" cy="36576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7863840" y="1920240"/>
            <a:ext cx="36576" cy="1188720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4892040" y="2103120"/>
            <a:ext cx="3063239" cy="36576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7406640" y="2286000"/>
            <a:ext cx="594360" cy="36576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7818120" y="5742432"/>
            <a:ext cx="201168" cy="20116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8092440" y="566928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24242"/>
                </a:solidFill>
                <a:latin typeface="Calibri"/>
              </a:defRPr>
            </a:pPr>
            <a:r>
              <a:t>Fact table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9921240" y="5742432"/>
            <a:ext cx="201168" cy="20116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10195560" y="566928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24242"/>
                </a:solidFill>
                <a:latin typeface="Calibri"/>
              </a:defRPr>
            </a:pPr>
            <a:r>
              <a:t>Dimension table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818120" y="6153912"/>
            <a:ext cx="201168" cy="20116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8092440" y="608076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24242"/>
                </a:solidFill>
                <a:latin typeface="Calibri"/>
              </a:defRPr>
            </a:pPr>
            <a:r>
              <a:t>Staging ref ⚠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9921240" y="6153912"/>
            <a:ext cx="201168" cy="201168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10195560" y="608076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24242"/>
                </a:solidFill>
                <a:latin typeface="Calibri"/>
              </a:defRPr>
            </a:pPr>
            <a:r>
              <a:t>FK relationship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E7D32"/>
                </a:solidFill>
                <a:latin typeface="Calibri"/>
              </a:defRPr>
            </a:pPr>
            <a:r>
              <a:t>Fact Tables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57575"/>
                </a:solidFill>
                <a:latin typeface="Calibri"/>
              </a:defRPr>
            </a:pPr>
            <a:r>
              <a:t>Each fact table has one grain — the most atomic event it records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80160"/>
          <a:ext cx="11430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Fact Table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Grain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PK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Rows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Detail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fct_sales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One row per</a:t>
                      </a:r>
                    </a:p>
                    <a:p>
                      <a:pPr>
                        <a:defRPr sz="11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order line item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order_id +</a:t>
                      </a:r>
                    </a:p>
                    <a:p>
                      <a:pPr>
                        <a:defRPr sz="11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order_item_id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~112k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3-source CTE: items→orders→customers</a:t>
                      </a:r>
                    </a:p>
                    <a:p>
                      <a:pPr>
                        <a:defRPr sz="11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total_sale_amount = price + freight_value</a:t>
                      </a:r>
                    </a:p>
                    <a:p>
                      <a:pPr>
                        <a:defRPr sz="11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Delivery timestamps repeated per item row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fct_reviews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One row per</a:t>
                      </a:r>
                    </a:p>
                    <a:p>
                      <a:pPr>
                        <a:defRPr sz="11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customer review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review_id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~97k</a:t>
                      </a:r>
                    </a:p>
                    <a:p>
                      <a:pPr>
                        <a:defRPr sz="11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(post-dedup)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789 source duplicates removed via ROW_NUMBER</a:t>
                      </a:r>
                    </a:p>
                    <a:p>
                      <a:pPr>
                        <a:defRPr sz="11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FK → stg_orders (not fct_sales) — ADR-003</a:t>
                      </a:r>
                    </a:p>
                    <a:p>
                      <a:pPr>
                        <a:defRPr sz="11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756 itemless orders have reviews but no sales rows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fct_payments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One row per</a:t>
                      </a:r>
                    </a:p>
                    <a:p>
                      <a:pPr>
                        <a:defRPr sz="11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payment instalment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order_id +</a:t>
                      </a:r>
                    </a:p>
                    <a:p>
                      <a:pPr>
                        <a:defRPr sz="11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payment_sequential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~104k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date_key from LEFT JOIN stg_orders (nullable)</a:t>
                      </a:r>
                    </a:p>
                    <a:p>
                      <a:pPr>
                        <a:defRPr sz="11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Compound PK handles split-payment orders</a:t>
                      </a:r>
                    </a:p>
                    <a:p>
                      <a:pPr>
                        <a:defRPr sz="11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payment_installments clamped 0→1 in staging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65760" y="5166360"/>
            <a:ext cx="11430000" cy="36576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525780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424242"/>
                </a:solidFill>
                <a:latin typeface="Calibri"/>
              </a:defRPr>
            </a:pPr>
            <a:r>
              <a:t>Why grain matters:</a:t>
            </a:r>
          </a:p>
          <a:p>
            <a:pPr lvl="1">
              <a:spcAft>
                <a:spcPts val="3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An order of 3 items = 3 rows in fct_sales but 1 row in fct_reviews → always use COUNT(DISTINCT order_id) for order-level metrics</a:t>
            </a:r>
          </a:p>
          <a:p>
            <a:pPr lvl="1">
              <a:spcAft>
                <a:spcPts val="3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Mixing grains (e.g. putting order-level payment totals in fct_sales) causes double-counting → order_payment_value was deliberately excluded from fct_sales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7B1FA2"/>
                </a:solidFill>
                <a:latin typeface="Calibri"/>
              </a:defRPr>
            </a:pPr>
            <a:r>
              <a:t>Dimension Tables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57575"/>
                </a:solidFill>
                <a:latin typeface="Calibri"/>
              </a:defRPr>
            </a:pPr>
            <a:r>
              <a:t>Descriptive context for every fact — who, what, where, when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80160"/>
          <a:ext cx="11430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058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Dimension</a:t>
                      </a:r>
                    </a:p>
                  </a:txBody>
                  <a:tcPr anchor="ctr">
                    <a:solidFill>
                      <a:srgbClr val="7B1FA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PK</a:t>
                      </a:r>
                    </a:p>
                  </a:txBody>
                  <a:tcPr anchor="ctr">
                    <a:solidFill>
                      <a:srgbClr val="7B1FA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Columns</a:t>
                      </a:r>
                    </a:p>
                  </a:txBody>
                  <a:tcPr anchor="ctr">
                    <a:solidFill>
                      <a:srgbClr val="7B1FA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Design Notes</a:t>
                      </a:r>
                    </a:p>
                  </a:txBody>
                  <a:tcPr anchor="ctr">
                    <a:solidFill>
                      <a:srgbClr val="7B1F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dim_customers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customer_unique_id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customer_city, state, zip</a:t>
                      </a:r>
                    </a:p>
                    <a:p>
                      <a:pPr>
                        <a:defRPr sz="11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geolocation_lat, lng (nullable)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Source has customer_id per order — deduplicated to customer_unique_id via ROW_NUMBER so one real person = one row.</a:t>
                      </a:r>
                    </a:p>
                    <a:p>
                      <a:pPr>
                        <a:defRPr sz="11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Lat/lng nullable: ~3% of customers have no matching geolocation zip.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dim_products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product_id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product_category_name_english</a:t>
                      </a:r>
                    </a:p>
                    <a:p>
                      <a:pPr>
                        <a:defRPr sz="11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7 nullable numeric attributes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COALESCE(english → portuguese → 'uncategorized') resolves 610 products with no category.</a:t>
                      </a:r>
                    </a:p>
                    <a:p>
                      <a:pPr>
                        <a:defRPr sz="11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Source had misspelled columns ('lenght') — corrected in stg_products. Use product_category_name_english, never product_category_name.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dim_sellers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seller_id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seller_city, state, zip</a:t>
                      </a:r>
                    </a:p>
                    <a:p>
                      <a:pPr>
                        <a:defRPr sz="11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geolocation_lat, lng (nullable)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Geolocation enriched by zip code prefix via stg_geolocation.</a:t>
                      </a:r>
                    </a:p>
                    <a:p>
                      <a:pPr>
                        <a:defRPr sz="11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stg_geolocation bounding-box filtered to Brazil before AVG() aggregation to remove ~80 outlier coordinates.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dim_date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date_key (DATE)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year, month, day</a:t>
                      </a:r>
                    </a:p>
                    <a:p>
                      <a:pPr>
                        <a:defRPr sz="11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day_of_week, quarter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Entirely generated — not loaded from any source CSV.</a:t>
                      </a:r>
                    </a:p>
                    <a:p>
                      <a:pPr>
                        <a:defRPr sz="11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dbt_utils.date_spine produces one row per day from 2016-01-01 to 2018-12-31.</a:t>
                      </a:r>
                    </a:p>
                    <a:p>
                      <a:pPr>
                        <a:defRPr sz="11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DATE type chosen over INTEGER — see ADR-001.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838F"/>
                </a:solidFill>
                <a:latin typeface="Calibri"/>
              </a:defRPr>
            </a:pPr>
            <a:r>
              <a:t>Key Design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57575"/>
                </a:solidFill>
                <a:latin typeface="Calibri"/>
              </a:defRPr>
            </a:pPr>
            <a:r>
              <a:t>Three non-obvious choices that shaped the schema — each with an Architecture Decision Record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73152" cy="13716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5100"/>
                </a:solidFill>
                <a:latin typeface="Calibri"/>
              </a:defRPr>
            </a:pPr>
            <a:r>
              <a:t>ADR-001  ·  date_key as DATE, not INTEGER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459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dbt_utils.date_spine natively outputs DATE — using INTEGER would require casting in every model that touches a date.</a:t>
            </a:r>
          </a:p>
          <a:p>
            <a:pPr>
              <a:spcAft>
                <a:spcPts val="3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DATE type joins natively with TIMESTAMP columns via DATE(CAST(...)) without extra functions.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651760"/>
            <a:ext cx="73152" cy="16459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651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62828"/>
                </a:solidFill>
                <a:latin typeface="Calibri"/>
              </a:defRPr>
            </a:pPr>
            <a:r>
              <a:t>ADR-003  ·  fct_reviews.order_id → stg_orders, not fct_sales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632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756 orders were placed but had no line items added — they appear in stg_orders but have no rows in fct_sales.</a:t>
            </a:r>
          </a:p>
          <a:p>
            <a:pPr>
              <a:spcAft>
                <a:spcPts val="3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Pointing the FK to fct_sales would orphan those 756 review rows — referential integrity would fail.</a:t>
            </a:r>
          </a:p>
          <a:p>
            <a:pPr>
              <a:spcAft>
                <a:spcPts val="3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This is the only place in the project where a mart FK targets a staging model rather than another mart.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206240"/>
            <a:ext cx="73152" cy="19202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4206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7D32"/>
                </a:solidFill>
                <a:latin typeface="Calibri"/>
              </a:defRPr>
            </a:pPr>
            <a:r>
              <a:t>fct_sales requires a 3-source CTE  —  the customer_unique_id resolution chain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617720"/>
            <a:ext cx="109728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stg_order_items has: order_id, product_id, seller_id  —  NO customer info</a:t>
            </a:r>
          </a:p>
          <a:p>
            <a:pPr>
              <a:spcAft>
                <a:spcPts val="3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stg_orders has: order_id → customer_id  (order-scoped, not the true PK)</a:t>
            </a:r>
          </a:p>
          <a:p>
            <a:pPr>
              <a:spcAft>
                <a:spcPts val="3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stg_customers has: customer_id → customer_unique_id  (true customer PK)</a:t>
            </a:r>
          </a:p>
          <a:p>
            <a:pPr>
              <a:spcAft>
                <a:spcPts val="300"/>
              </a:spcAft>
              <a:defRPr sz="1200" b="0">
                <a:solidFill>
                  <a:srgbClr val="424242"/>
                </a:solidFill>
                <a:latin typeface="Calibri"/>
              </a:defRPr>
            </a:pPr>
            <a:r>
              <a:t>Resolution: order_items JOIN orders (on order_id) JOIN customers (on customer_id)  →  joining items directly to customers produces zero matches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0" y="4663440"/>
            <a:ext cx="4663440" cy="19202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69480" y="4709160"/>
            <a:ext cx="4480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5D6A7"/>
                </a:solidFill>
                <a:latin typeface="Calibri"/>
              </a:defRPr>
            </a:pPr>
            <a:r>
              <a:t>WITH items AS (SELECT * FROM {{ ref('stg_order_items') }}),</a:t>
            </a:r>
            <a:br/>
            <a:r>
              <a:t>     orders AS (SELECT order_id, customer_id</a:t>
            </a:r>
            <a:br/>
            <a:r>
              <a:t>                FROM {{ ref('stg_orders') }}),</a:t>
            </a:r>
            <a:br/>
            <a:r>
              <a:t>     custs  AS (SELECT customer_id, customer_unique_id</a:t>
            </a:r>
            <a:br/>
            <a:r>
              <a:t>                FROM {{ ref('stg_customers') }})</a:t>
            </a:r>
            <a:br/>
            <a:r>
              <a:t>SELECT i.*, c.customer_unique_id</a:t>
            </a:r>
            <a:br/>
            <a:r>
              <a:t>FROM items i</a:t>
            </a:r>
            <a:br/>
            <a:r>
              <a:t>JOIN orders o USING (order_id)</a:t>
            </a:r>
            <a:br/>
            <a:r>
              <a:t>JOIN custs  c USING (customer_id)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1245</Words>
  <Application>Microsoft Macintosh PowerPoint</Application>
  <PresentationFormat>Widescreen</PresentationFormat>
  <Paragraphs>172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Yeo, Koon N.</cp:lastModifiedBy>
  <cp:revision>2</cp:revision>
  <dcterms:created xsi:type="dcterms:W3CDTF">2013-01-27T09:14:16Z</dcterms:created>
  <dcterms:modified xsi:type="dcterms:W3CDTF">2026-03-19T02:18:05Z</dcterms:modified>
  <cp:category/>
</cp:coreProperties>
</file>