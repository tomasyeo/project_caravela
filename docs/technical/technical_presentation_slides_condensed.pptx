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7" r:id="rId7"/>
    <p:sldId id="268" r:id="rId8"/>
    <p:sldId id="260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8"/>
  </p:normalViewPr>
  <p:slideViewPr>
    <p:cSldViewPr snapToGrid="0" snapToObjects="1">
      <p:cViewPr varScale="1">
        <p:scale>
          <a:sx n="135" d="100"/>
          <a:sy n="135" d="100"/>
        </p:scale>
        <p:origin x="192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565C0"/>
                </a:solidFill>
                <a:latin typeface="Calibri"/>
              </a:defRPr>
            </a:pPr>
            <a:r>
              <a:t>Project Caravela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24242"/>
                </a:solidFill>
                <a:latin typeface="Calibri"/>
              </a:defRPr>
            </a:pPr>
            <a:r>
              <a:t>Technical Approach &amp;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Brazilian E-Commerce Analytics Pipeline  |  Olist Dataset  |  ~100k orders, 2016–2018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Calibri"/>
              </a:defRPr>
            </a:pPr>
            <a:r>
              <a:t>5-Agent AI Architecture  +  Human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DSAI Module 2 Assignment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rPr dirty="0"/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End-to-end flow across 6 layers — modular, each independently replaceable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417320" cy="11887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CSV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9 files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~1.1M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554480"/>
            <a:ext cx="141732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Meltano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tap-csv →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target-bigquery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554480"/>
            <a:ext cx="1417320" cy="11887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BigQuery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olist_raw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9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554480"/>
            <a:ext cx="141732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dbt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staging (9 views)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marts (7 tables)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554480"/>
            <a:ext cx="1417320" cy="11887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BigQuery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olist_analytics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Star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554480"/>
            <a:ext cx="1417320" cy="11887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Jupyter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 notebooks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11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1554480"/>
            <a:ext cx="1417320" cy="1188720"/>
          </a:xfrm>
          <a:prstGeom prst="round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Parquet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6 files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data/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348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21240" y="1965960"/>
            <a:ext cx="502920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49840" y="3017520"/>
            <a:ext cx="1417320" cy="91440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Streamlit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5-page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0" y="2743200"/>
            <a:ext cx="54864" cy="27432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4297680"/>
            <a:ext cx="5943600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4389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▸ AUTOMATED — Dagster-orchestrated (daily 09:00 SGT + manual trigger)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297680"/>
            <a:ext cx="5303520" cy="3657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1FA2"/>
                </a:solidFill>
                <a:latin typeface="Calibri"/>
              </a:defRPr>
            </a:pPr>
            <a:r>
              <a:t>▸ MANUAL — Notebooks, Parquet export, Streamlit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All credentials from single .env file: GOOGLE_APPLICATION_CREDENTIALS, GCP_PROJECT_ID, BIGQUERY_RAW_DATASET, BIGQUERY_ANALYTICS_DATASET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Parquet files decouple dashboard from BigQuery — Streamlit requires no GCP credentials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dbt build interleaves models + tests — failing staging test blocks dependent marts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C1684-5BF1-435F-0704-C755412E5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0643"/>
            <a:ext cx="12192000" cy="41068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CEF4FC-AFB2-DB81-245C-E0C404EB3BCF}"/>
              </a:ext>
            </a:extLst>
          </p:cNvPr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rPr dirty="0"/>
              <a:t>Pipeline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63748-2F77-05C3-20D5-71DCD009DED3}"/>
              </a:ext>
            </a:extLst>
          </p:cNvPr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rPr dirty="0"/>
              <a:t>End-to-end flow across 6 layers — modular, each independently replaceable</a:t>
            </a:r>
          </a:p>
        </p:txBody>
      </p:sp>
    </p:spTree>
    <p:extLst>
      <p:ext uri="{BB962C8B-B14F-4D97-AF65-F5344CB8AC3E}">
        <p14:creationId xmlns:p14="http://schemas.microsoft.com/office/powerpoint/2010/main" val="414381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Calibri"/>
              </a:defRPr>
            </a:pPr>
            <a:r>
              <a:t>Tool Selection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Each tool chosen for a specific architectural property — decoupling is the design principle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Selected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Rationale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Alternatives Rejected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Meltano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(tap-csv)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Declarative YAML; Singer protocol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separates extract from load;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WRITE_TRUNCATE for full refresh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Python scripts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bq load CLI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Transformation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dbt 1.11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 BigQuery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SQL-first ELT with ref() lineage;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staging views + mart tables;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all type casting centralised in staging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pandas transforms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BQ stored procedures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dbt-expectations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+ singular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Integrated in DAG — failing test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blocks downstream marts;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76 tests, 0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Great Expectations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Soda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Orchestration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Dagster 1.12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+ dagster-dbt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Asset-centric model; 1 asset per dbt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model auto-generated;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daily 09:00 SGT schedule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Airflow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Prefect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cron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Jupyter +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google-cloud-bigquery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Self-contained notebooks;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Parquet export decouples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dashboard from BigQuery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Python scripts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dbt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Streamlit 1.55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Python-native; reads Parquet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(no GCP credentials);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 global filters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Looker, Metabase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Dash (Plotly)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5100"/>
                </a:solidFill>
                <a:latin typeface="Calibri"/>
              </a:defRPr>
            </a:pPr>
            <a:r>
              <a:rPr dirty="0"/>
              <a:t>Star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Fact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fct_sales — order-item grain (~112k rows)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Composite PK: order_id + order_item_id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4 FKs → dim_customers, dim_products, dim_sellers, dim_date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total_sale_amount = price + freight_value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3-source CTE: items → orders → customers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fct_reviews — review grain (~97k rows, post-dedup)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PK: review_id (789 source duplicates removed)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FK: order_id → stg_orders (NOT fct_sales)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⚠ 756 itemless orders have reviews but no sales rows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fct_payments — payment-method grain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Compound PK: order_id + payment_sequential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Nullable date_key via LEFT JOIN to stg_orders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Calibri"/>
              </a:defRPr>
            </a:pPr>
            <a:r>
              <a:t>Dimension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dim_customers — PK: customer_unique_id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Deduped via ROW_NUMBER; geolocation lat/lng (nullable)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dim_products — PK: product_id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COALESCE(english → portuguese → 'uncategorized')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7 nullable numeric columns via SAFE_CAST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dim_sellers — PK: seller_id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Geolocation enrichment by zip code prefix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dim_date — PK: date_key (DATE type)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Generated: dbt_utils.date_spine (2016-01-01 to 2018-12-31)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No raw data source — see ADR-001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623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Calibri"/>
              </a:defRPr>
            </a:pPr>
            <a:r>
              <a:t>Why star schema?  Single fact-to-dim joins for analytics • Dims evolve independently • Clear grain per fact table prevents 'universal fact table' anti-pattern • Staging layer (views) fixes all data defects once — every downstream consumer inherits clean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903DA7-0641-D6A1-AA21-99F25CD04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23" y="482353"/>
            <a:ext cx="10964157" cy="6238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E2A3CD-8AF7-25CD-37DB-F2F02500DF9E}"/>
              </a:ext>
            </a:extLst>
          </p:cNvPr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5100"/>
                </a:solidFill>
                <a:latin typeface="Calibri"/>
              </a:defRPr>
            </a:pPr>
            <a:r>
              <a:rPr dirty="0"/>
              <a:t>Star Schema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A8DA0-DB40-AF4B-83FE-11D118EB0A7A}"/>
              </a:ext>
            </a:extLst>
          </p:cNvPr>
          <p:cNvSpPr txBox="1"/>
          <p:nvPr/>
        </p:nvSpPr>
        <p:spPr>
          <a:xfrm>
            <a:off x="731520" y="777240"/>
            <a:ext cx="8582162" cy="92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Star schema balances query performance with analytical flexibility. Each fact table has a clear grain (order-item, review, payment), and dimension tables provide reusable lookup attributes for filtering and grouping.</a:t>
            </a:r>
          </a:p>
        </p:txBody>
      </p:sp>
    </p:spTree>
    <p:extLst>
      <p:ext uri="{BB962C8B-B14F-4D97-AF65-F5344CB8AC3E}">
        <p14:creationId xmlns:p14="http://schemas.microsoft.com/office/powerpoint/2010/main" val="2240969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ED3BA0-2CCB-D502-2011-98E33EA92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43" y="1195660"/>
            <a:ext cx="9712771" cy="54634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7AB626-2173-3939-50F8-E51D59A293DE}"/>
              </a:ext>
            </a:extLst>
          </p:cNvPr>
          <p:cNvSpPr txBox="1"/>
          <p:nvPr/>
        </p:nvSpPr>
        <p:spPr>
          <a:xfrm>
            <a:off x="731520" y="27432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  <a:latin typeface="Calibri"/>
              </a:defRPr>
            </a:pPr>
            <a:r>
              <a:rPr lang="en-US" dirty="0"/>
              <a:t>Data Lineage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2C1E83-8268-D7EE-FD19-90A6600EEF28}"/>
              </a:ext>
            </a:extLst>
          </p:cNvPr>
          <p:cNvSpPr txBox="1"/>
          <p:nvPr/>
        </p:nvSpPr>
        <p:spPr>
          <a:xfrm>
            <a:off x="731520" y="777240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In data engineering, this relationship is often described as a transformation hierarchy (similar to the Medallion Architecture of Bronze, Silver, and Gold). Each layer progressively refines the data from its messy original state into a polished, business-ready format. </a:t>
            </a:r>
          </a:p>
        </p:txBody>
      </p:sp>
    </p:spTree>
    <p:extLst>
      <p:ext uri="{BB962C8B-B14F-4D97-AF65-F5344CB8AC3E}">
        <p14:creationId xmlns:p14="http://schemas.microsoft.com/office/powerpoint/2010/main" val="393602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  <a:latin typeface="Calibri"/>
              </a:defRPr>
            </a:pPr>
            <a:r>
              <a:rPr dirty="0"/>
              <a:t>Data Quality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rPr dirty="0"/>
              <a:t>76 tests, 2 mechanisms, 0 failures — enforced at staging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Generic Tests (schema.yml)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not_null, unique — PK/FK enforcement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accepted_values — order_status, payment_type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expect_column_values_to_be_between — numeric ranges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expect_table_row_count_to_be_between — fan-out guards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unique_combination_of_columns — compound PKs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Temporal pair tests — timestamp ordering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relationships — FK referential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Singular Tests (SQL files)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assert_boleto_single_installment.sql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Boleto payments must have exactly 1 instalment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assert_payment_reconciliation.sql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SUM(payment_value) ≈ SUM(total_sale_amount) per order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assert_date_key_range.sql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All fact table date_keys within 2016-01-01 to 2018-12-31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Staging Layer Data Defect Corrections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84632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stg_reviews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ROW_NUMBER dedup on review_id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789 duplicates removed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stg_geolocation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Brazil bounding-box filter + AVG(lat,lng) per zip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~1M → ~19k rows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stg_payments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Filter payment_type='not_defined'; clamp installments 0→1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 + 2 rows fixed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stg_products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Rename 'lenght'→'length'; COALESCE category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610 products labelled 'uncategorized'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24242"/>
                </a:solidFill>
                <a:latin typeface="Calibri"/>
              </a:defRPr>
            </a:pPr>
            <a:r>
              <a:t>Architecture Decisions &amp; Lessons Learned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ADR</a:t>
                      </a:r>
                    </a:p>
                  </a:txBody>
                  <a:tcPr anchor="ctr">
                    <a:solidFill>
                      <a:srgbClr val="4242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4242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Rationale</a:t>
                      </a:r>
                    </a:p>
                  </a:txBody>
                  <a:tcPr anchor="ctr">
                    <a:solidFill>
                      <a:srgbClr val="4242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ADR-001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date_key as DATE (not INTEGER)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dbt_utils.date_spine natively produces DATE;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INTEGER adds unnecessary casting everywhere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ADR-002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Dataset names: olist_raw / olist_analytics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'raw' is a BigQuery SQL reserved word;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requires backtick-quoting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ADR-003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fct_reviews.order_id → stg_orders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(not fct_sales)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756 itemless orders have reviews but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 fct_sales rows; FK would orphan them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ADR-004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Meltano extractor: tap-csv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Streaming file reads; community-maintained;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simpler config than tap-spreadsheets-anywhere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Calibri"/>
              </a:defRPr>
            </a:pPr>
            <a:r>
              <a:t>Non-Obvious Implementation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3-source CTE for fct_sales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items → orders → customers (direct join = zero matches)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customer_id is in stg_orders; customer_unique_id in stg_customers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batch_job method for Meltano loader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gRPC idle timeout on 1M-row geolocation file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Write API streams go idle during sequential file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389120"/>
            <a:ext cx="54864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rPr dirty="0"/>
              <a:t>@</a:t>
            </a:r>
            <a:r>
              <a:rPr dirty="0" err="1"/>
              <a:t>multi_asset</a:t>
            </a:r>
            <a:r>
              <a:rPr dirty="0"/>
              <a:t>(specs=...) for </a:t>
            </a:r>
            <a:r>
              <a:rPr dirty="0" err="1"/>
              <a:t>Dagster</a:t>
            </a:r>
            <a:r>
              <a:rPr dirty="0"/>
              <a:t> producer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rPr dirty="0"/>
              <a:t>@asset(deps=...) made </a:t>
            </a:r>
            <a:r>
              <a:rPr dirty="0" err="1"/>
              <a:t>meltano_ingest</a:t>
            </a:r>
            <a:r>
              <a:rPr dirty="0"/>
              <a:t> downstream of raw tables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rPr dirty="0"/>
              <a:t>@</a:t>
            </a:r>
            <a:r>
              <a:rPr dirty="0" err="1"/>
              <a:t>multi_asset</a:t>
            </a:r>
            <a:r>
              <a:rPr dirty="0"/>
              <a:t> declares it as the PRODUCER — correct topology</a:t>
            </a:r>
          </a:p>
          <a:p>
            <a:pPr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rPr dirty="0" err="1"/>
              <a:t>metaplane</a:t>
            </a:r>
            <a:r>
              <a:rPr dirty="0"/>
              <a:t>/</a:t>
            </a:r>
            <a:r>
              <a:rPr dirty="0" err="1"/>
              <a:t>dbt</a:t>
            </a:r>
            <a:r>
              <a:rPr dirty="0"/>
              <a:t>-expectations constraint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rPr dirty="0"/>
              <a:t>Fork v0.</a:t>
            </a:r>
            <a:r>
              <a:rPr lang="en-US" dirty="0"/>
              <a:t>10</a:t>
            </a:r>
            <a:r>
              <a:rPr dirty="0"/>
              <a:t>.</a:t>
            </a:r>
            <a:r>
              <a:rPr lang="en-US" dirty="0"/>
              <a:t>8</a:t>
            </a:r>
            <a:r>
              <a:rPr dirty="0"/>
              <a:t> has no 'mostly' parameter on any macro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rPr dirty="0"/>
              <a:t>4 proportion-based tests documented but unenforceable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B1FA2"/>
                </a:solidFill>
                <a:latin typeface="Calibri"/>
              </a:defRPr>
            </a:pPr>
            <a:r>
              <a:t>AI 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Human Orchestrator + 5 Specialised AI Agents — contract-driven isolation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97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Deliverables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Worktree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Agent 1a–1d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Engineer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(4 phases)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Meltano config, 9 staging models,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 mart models, 76 dbt 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worktrees/agent-1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Agent 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Platform Engineer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Dagster orchestration, schedule,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launch scripts, .env integration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worktrees/agent-2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Agent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Analytics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 Jupyter notebooks, 6 Parquet exports,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utils.py, analytical 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worktrees/agent-3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Agent 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Dashboard Engineer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Streamlit 5-page dashboard,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 global filters, Lorenz/Gini charts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worktrees/agent-4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Agent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Scientist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Executive brief, slide deck,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speaker notes, generate_slides.py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worktrees/agent-5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Orchestrator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Human + Claude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(Opus)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Gate management, merge conflicts,</a:t>
                      </a:r>
                    </a:p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diagrams, technical report, progress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main branch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1FA2"/>
                </a:solidFill>
                <a:latin typeface="Calibri"/>
              </a:defRPr>
            </a:pPr>
            <a:r>
              <a:t>Architecture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Isolation: Each agent in a separate git worktree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Dependency gates: GATE-1→4 enforce execution order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Contract surfaces: CLAUDE.md (spec), sources.yml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  (Meltano↔dbt), Parquet schemas (notebooks↔dashboard)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8463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42 changelog entries tracking all deviations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Agents communicate through shared specifications,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  not directly — the orchestrator manages gates</a:t>
            </a:r>
          </a:p>
          <a:p>
            <a:pPr>
              <a:spcAft>
                <a:spcPts val="4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t>  and resolves merge conflicts across worktrees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1397</Words>
  <Application>Microsoft Macintosh PowerPoint</Application>
  <PresentationFormat>Widescreen</PresentationFormat>
  <Paragraphs>244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Yeo, Koon N.</cp:lastModifiedBy>
  <cp:revision>6</cp:revision>
  <dcterms:created xsi:type="dcterms:W3CDTF">2013-01-27T09:14:16Z</dcterms:created>
  <dcterms:modified xsi:type="dcterms:W3CDTF">2026-03-18T14:31:42Z</dcterms:modified>
  <cp:category/>
</cp:coreProperties>
</file>